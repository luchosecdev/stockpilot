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436" r:id="rId2"/>
    <p:sldId id="448" r:id="rId3"/>
    <p:sldId id="449" r:id="rId4"/>
    <p:sldId id="439" r:id="rId5"/>
    <p:sldId id="453" r:id="rId6"/>
    <p:sldId id="437" r:id="rId7"/>
    <p:sldId id="456" r:id="rId8"/>
    <p:sldId id="469" r:id="rId9"/>
    <p:sldId id="470" r:id="rId10"/>
    <p:sldId id="458" r:id="rId11"/>
    <p:sldId id="463" r:id="rId12"/>
    <p:sldId id="471" r:id="rId13"/>
    <p:sldId id="472" r:id="rId14"/>
    <p:sldId id="473" r:id="rId15"/>
    <p:sldId id="476" r:id="rId16"/>
    <p:sldId id="477" r:id="rId17"/>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SI" initial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67" autoAdjust="0"/>
    <p:restoredTop sz="94660"/>
  </p:normalViewPr>
  <p:slideViewPr>
    <p:cSldViewPr>
      <p:cViewPr varScale="1">
        <p:scale>
          <a:sx n="113" d="100"/>
          <a:sy n="113" d="100"/>
        </p:scale>
        <p:origin x="149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9-17T15:37:31.920" idx="1">
    <p:pos x="5472" y="1008"/>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CC023BC0-8BA3-484C-A293-CF42735345CE}" type="datetimeFigureOut">
              <a:rPr lang="es-ES"/>
              <a:pPr>
                <a:defRPr/>
              </a:pPr>
              <a:t>23/09/2026</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F2E076EE-18D9-409F-A77B-F83A60D5F828}" type="slidenum">
              <a:rPr lang="es-ES" altLang="es-ES"/>
              <a:pPr/>
              <a:t>‹#›</a:t>
            </a:fld>
            <a:endParaRPr lang="es-ES" alt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lvl1pPr>
              <a:defRPr/>
            </a:lvl1pPr>
          </a:lstStyle>
          <a:p>
            <a:pPr>
              <a:defRPr/>
            </a:pPr>
            <a:fld id="{03FCD976-3E9D-4373-9AC5-D0A5886A60C0}" type="datetimeFigureOut">
              <a:rPr lang="es-ES"/>
              <a:pPr>
                <a:defRPr/>
              </a:pPr>
              <a:t>23/09/2026</a:t>
            </a:fld>
            <a:endParaRPr lang="es-ES"/>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p:txBody>
          <a:bodyPr/>
          <a:lstStyle>
            <a:lvl1pPr>
              <a:defRPr/>
            </a:lvl1pPr>
          </a:lstStyle>
          <a:p>
            <a:fld id="{D542A330-3077-4947-A3FA-8022E0EAAA3A}" type="slidenum">
              <a:rPr lang="es-ES" altLang="es-ES"/>
              <a:pPr/>
              <a:t>‹#›</a:t>
            </a:fld>
            <a:endParaRPr lang="es-ES" altLang="es-ES"/>
          </a:p>
        </p:txBody>
      </p:sp>
    </p:spTree>
    <p:extLst>
      <p:ext uri="{BB962C8B-B14F-4D97-AF65-F5344CB8AC3E}">
        <p14:creationId xmlns:p14="http://schemas.microsoft.com/office/powerpoint/2010/main" val="624727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lvl1pPr>
              <a:defRPr/>
            </a:lvl1pPr>
          </a:lstStyle>
          <a:p>
            <a:pPr>
              <a:defRPr/>
            </a:pPr>
            <a:fld id="{2EE40E67-EDBA-4E62-B86E-4D49D19D8556}" type="datetimeFigureOut">
              <a:rPr lang="es-ES"/>
              <a:pPr>
                <a:defRPr/>
              </a:pPr>
              <a:t>23/09/2026</a:t>
            </a:fld>
            <a:endParaRPr lang="es-ES"/>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p:txBody>
          <a:bodyPr/>
          <a:lstStyle>
            <a:lvl1pPr>
              <a:defRPr/>
            </a:lvl1pPr>
          </a:lstStyle>
          <a:p>
            <a:fld id="{D0C8AFE1-5F96-4BEB-A5E5-5E02D895B97B}" type="slidenum">
              <a:rPr lang="es-ES" altLang="es-ES"/>
              <a:pPr/>
              <a:t>‹#›</a:t>
            </a:fld>
            <a:endParaRPr lang="es-ES" altLang="es-ES"/>
          </a:p>
        </p:txBody>
      </p:sp>
    </p:spTree>
    <p:extLst>
      <p:ext uri="{BB962C8B-B14F-4D97-AF65-F5344CB8AC3E}">
        <p14:creationId xmlns:p14="http://schemas.microsoft.com/office/powerpoint/2010/main" val="2755664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lvl1pPr>
              <a:defRPr/>
            </a:lvl1pPr>
          </a:lstStyle>
          <a:p>
            <a:pPr>
              <a:defRPr/>
            </a:pPr>
            <a:fld id="{D4EAE1C3-369C-42B3-9E9C-7E89A2051561}" type="datetimeFigureOut">
              <a:rPr lang="es-ES"/>
              <a:pPr>
                <a:defRPr/>
              </a:pPr>
              <a:t>23/09/2026</a:t>
            </a:fld>
            <a:endParaRPr lang="es-ES"/>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p:txBody>
          <a:bodyPr/>
          <a:lstStyle>
            <a:lvl1pPr>
              <a:defRPr/>
            </a:lvl1pPr>
          </a:lstStyle>
          <a:p>
            <a:fld id="{CFB7B66F-CAD8-48D6-A7CB-ECD11AE9A699}" type="slidenum">
              <a:rPr lang="es-ES" altLang="es-ES"/>
              <a:pPr/>
              <a:t>‹#›</a:t>
            </a:fld>
            <a:endParaRPr lang="es-ES" altLang="es-ES"/>
          </a:p>
        </p:txBody>
      </p:sp>
    </p:spTree>
    <p:extLst>
      <p:ext uri="{BB962C8B-B14F-4D97-AF65-F5344CB8AC3E}">
        <p14:creationId xmlns:p14="http://schemas.microsoft.com/office/powerpoint/2010/main" val="3265034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3 Marcador de fecha"/>
          <p:cNvSpPr>
            <a:spLocks noGrp="1"/>
          </p:cNvSpPr>
          <p:nvPr>
            <p:ph type="dt" sz="half" idx="10"/>
          </p:nvPr>
        </p:nvSpPr>
        <p:spPr/>
        <p:txBody>
          <a:bodyPr/>
          <a:lstStyle>
            <a:lvl1pPr>
              <a:defRPr/>
            </a:lvl1pPr>
          </a:lstStyle>
          <a:p>
            <a:pPr>
              <a:defRPr/>
            </a:pPr>
            <a:fld id="{90BD6C2D-D65A-4EB7-A925-80C794EF15D5}" type="datetimeFigureOut">
              <a:rPr lang="es-ES"/>
              <a:pPr>
                <a:defRPr/>
              </a:pPr>
              <a:t>23/09/2026</a:t>
            </a:fld>
            <a:endParaRPr lang="es-ES"/>
          </a:p>
        </p:txBody>
      </p:sp>
      <p:sp>
        <p:nvSpPr>
          <p:cNvPr id="6" name="4 Marcador de pie de página"/>
          <p:cNvSpPr>
            <a:spLocks noGrp="1"/>
          </p:cNvSpPr>
          <p:nvPr>
            <p:ph type="ftr" sz="quarter" idx="11"/>
          </p:nvPr>
        </p:nvSpPr>
        <p:spPr/>
        <p:txBody>
          <a:bodyPr/>
          <a:lstStyle>
            <a:lvl1pPr>
              <a:defRPr/>
            </a:lvl1pPr>
          </a:lstStyle>
          <a:p>
            <a:pPr>
              <a:defRPr/>
            </a:pPr>
            <a:endParaRPr lang="es-ES"/>
          </a:p>
        </p:txBody>
      </p:sp>
      <p:sp>
        <p:nvSpPr>
          <p:cNvPr id="7" name="5 Marcador de número de diapositiva"/>
          <p:cNvSpPr>
            <a:spLocks noGrp="1"/>
          </p:cNvSpPr>
          <p:nvPr>
            <p:ph type="sldNum" sz="quarter" idx="12"/>
          </p:nvPr>
        </p:nvSpPr>
        <p:spPr/>
        <p:txBody>
          <a:bodyPr/>
          <a:lstStyle>
            <a:lvl1pPr>
              <a:defRPr/>
            </a:lvl1pPr>
          </a:lstStyle>
          <a:p>
            <a:fld id="{7935E0AF-343E-4AEC-903A-3ACC2BA22C39}" type="slidenum">
              <a:rPr lang="es-ES" altLang="es-ES"/>
              <a:pPr/>
              <a:t>‹#›</a:t>
            </a:fld>
            <a:endParaRPr lang="es-ES" altLang="es-ES"/>
          </a:p>
        </p:txBody>
      </p:sp>
    </p:spTree>
    <p:extLst>
      <p:ext uri="{BB962C8B-B14F-4D97-AF65-F5344CB8AC3E}">
        <p14:creationId xmlns:p14="http://schemas.microsoft.com/office/powerpoint/2010/main" val="3555334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3 Marcador de fecha"/>
          <p:cNvSpPr>
            <a:spLocks noGrp="1"/>
          </p:cNvSpPr>
          <p:nvPr>
            <p:ph type="dt" sz="half" idx="10"/>
          </p:nvPr>
        </p:nvSpPr>
        <p:spPr/>
        <p:txBody>
          <a:bodyPr/>
          <a:lstStyle>
            <a:lvl1pPr>
              <a:defRPr/>
            </a:lvl1pPr>
          </a:lstStyle>
          <a:p>
            <a:pPr>
              <a:defRPr/>
            </a:pPr>
            <a:fld id="{D737FC3D-CCFB-435B-B2A9-1F0F10EDC31A}" type="datetimeFigureOut">
              <a:rPr lang="es-ES"/>
              <a:pPr>
                <a:defRPr/>
              </a:pPr>
              <a:t>23/09/2026</a:t>
            </a:fld>
            <a:endParaRPr lang="es-ES"/>
          </a:p>
        </p:txBody>
      </p:sp>
      <p:sp>
        <p:nvSpPr>
          <p:cNvPr id="8" name="4 Marcador de pie de página"/>
          <p:cNvSpPr>
            <a:spLocks noGrp="1"/>
          </p:cNvSpPr>
          <p:nvPr>
            <p:ph type="ftr" sz="quarter" idx="11"/>
          </p:nvPr>
        </p:nvSpPr>
        <p:spPr/>
        <p:txBody>
          <a:bodyPr/>
          <a:lstStyle>
            <a:lvl1pPr>
              <a:defRPr/>
            </a:lvl1pPr>
          </a:lstStyle>
          <a:p>
            <a:pPr>
              <a:defRPr/>
            </a:pPr>
            <a:endParaRPr lang="es-ES"/>
          </a:p>
        </p:txBody>
      </p:sp>
      <p:sp>
        <p:nvSpPr>
          <p:cNvPr id="9" name="5 Marcador de número de diapositiva"/>
          <p:cNvSpPr>
            <a:spLocks noGrp="1"/>
          </p:cNvSpPr>
          <p:nvPr>
            <p:ph type="sldNum" sz="quarter" idx="12"/>
          </p:nvPr>
        </p:nvSpPr>
        <p:spPr/>
        <p:txBody>
          <a:bodyPr/>
          <a:lstStyle>
            <a:lvl1pPr>
              <a:defRPr/>
            </a:lvl1pPr>
          </a:lstStyle>
          <a:p>
            <a:fld id="{3741D4AE-CF68-48C2-89A8-B37C5768D476}" type="slidenum">
              <a:rPr lang="es-ES" altLang="es-ES"/>
              <a:pPr/>
              <a:t>‹#›</a:t>
            </a:fld>
            <a:endParaRPr lang="es-ES" altLang="es-ES"/>
          </a:p>
        </p:txBody>
      </p:sp>
    </p:spTree>
    <p:extLst>
      <p:ext uri="{BB962C8B-B14F-4D97-AF65-F5344CB8AC3E}">
        <p14:creationId xmlns:p14="http://schemas.microsoft.com/office/powerpoint/2010/main" val="4141217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3 Marcador de fecha"/>
          <p:cNvSpPr>
            <a:spLocks noGrp="1"/>
          </p:cNvSpPr>
          <p:nvPr>
            <p:ph type="dt" sz="half" idx="10"/>
          </p:nvPr>
        </p:nvSpPr>
        <p:spPr/>
        <p:txBody>
          <a:bodyPr/>
          <a:lstStyle>
            <a:lvl1pPr>
              <a:defRPr/>
            </a:lvl1pPr>
          </a:lstStyle>
          <a:p>
            <a:pPr>
              <a:defRPr/>
            </a:pPr>
            <a:fld id="{EAED46DB-C948-475F-9F0D-F994115FE58F}" type="datetimeFigureOut">
              <a:rPr lang="es-ES"/>
              <a:pPr>
                <a:defRPr/>
              </a:pPr>
              <a:t>23/09/2026</a:t>
            </a:fld>
            <a:endParaRPr lang="es-ES"/>
          </a:p>
        </p:txBody>
      </p:sp>
      <p:sp>
        <p:nvSpPr>
          <p:cNvPr id="4" name="4 Marcador de pie de página"/>
          <p:cNvSpPr>
            <a:spLocks noGrp="1"/>
          </p:cNvSpPr>
          <p:nvPr>
            <p:ph type="ftr" sz="quarter" idx="11"/>
          </p:nvPr>
        </p:nvSpPr>
        <p:spPr/>
        <p:txBody>
          <a:bodyPr/>
          <a:lstStyle>
            <a:lvl1pPr>
              <a:defRPr/>
            </a:lvl1pPr>
          </a:lstStyle>
          <a:p>
            <a:pPr>
              <a:defRPr/>
            </a:pPr>
            <a:endParaRPr lang="es-ES"/>
          </a:p>
        </p:txBody>
      </p:sp>
      <p:sp>
        <p:nvSpPr>
          <p:cNvPr id="5" name="5 Marcador de número de diapositiva"/>
          <p:cNvSpPr>
            <a:spLocks noGrp="1"/>
          </p:cNvSpPr>
          <p:nvPr>
            <p:ph type="sldNum" sz="quarter" idx="12"/>
          </p:nvPr>
        </p:nvSpPr>
        <p:spPr/>
        <p:txBody>
          <a:bodyPr/>
          <a:lstStyle>
            <a:lvl1pPr>
              <a:defRPr/>
            </a:lvl1pPr>
          </a:lstStyle>
          <a:p>
            <a:fld id="{75CA3FA4-0E1F-4CE4-B955-28218FF07FCD}" type="slidenum">
              <a:rPr lang="es-ES" altLang="es-ES"/>
              <a:pPr/>
              <a:t>‹#›</a:t>
            </a:fld>
            <a:endParaRPr lang="es-ES" altLang="es-ES"/>
          </a:p>
        </p:txBody>
      </p:sp>
    </p:spTree>
    <p:extLst>
      <p:ext uri="{BB962C8B-B14F-4D97-AF65-F5344CB8AC3E}">
        <p14:creationId xmlns:p14="http://schemas.microsoft.com/office/powerpoint/2010/main" val="73170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p:cNvSpPr>
            <a:spLocks noGrp="1"/>
          </p:cNvSpPr>
          <p:nvPr>
            <p:ph type="dt" sz="half" idx="10"/>
          </p:nvPr>
        </p:nvSpPr>
        <p:spPr/>
        <p:txBody>
          <a:bodyPr/>
          <a:lstStyle>
            <a:lvl1pPr>
              <a:defRPr/>
            </a:lvl1pPr>
          </a:lstStyle>
          <a:p>
            <a:pPr>
              <a:defRPr/>
            </a:pPr>
            <a:fld id="{F668EB72-FD98-4FD3-9D65-C3D01CCE10C9}" type="datetimeFigureOut">
              <a:rPr lang="es-ES"/>
              <a:pPr>
                <a:defRPr/>
              </a:pPr>
              <a:t>23/09/2026</a:t>
            </a:fld>
            <a:endParaRPr lang="es-ES"/>
          </a:p>
        </p:txBody>
      </p:sp>
      <p:sp>
        <p:nvSpPr>
          <p:cNvPr id="3" name="4 Marcador de pie de página"/>
          <p:cNvSpPr>
            <a:spLocks noGrp="1"/>
          </p:cNvSpPr>
          <p:nvPr>
            <p:ph type="ftr" sz="quarter" idx="11"/>
          </p:nvPr>
        </p:nvSpPr>
        <p:spPr/>
        <p:txBody>
          <a:bodyPr/>
          <a:lstStyle>
            <a:lvl1pPr>
              <a:defRPr/>
            </a:lvl1pPr>
          </a:lstStyle>
          <a:p>
            <a:pPr>
              <a:defRPr/>
            </a:pPr>
            <a:endParaRPr lang="es-ES"/>
          </a:p>
        </p:txBody>
      </p:sp>
      <p:sp>
        <p:nvSpPr>
          <p:cNvPr id="4" name="5 Marcador de número de diapositiva"/>
          <p:cNvSpPr>
            <a:spLocks noGrp="1"/>
          </p:cNvSpPr>
          <p:nvPr>
            <p:ph type="sldNum" sz="quarter" idx="12"/>
          </p:nvPr>
        </p:nvSpPr>
        <p:spPr/>
        <p:txBody>
          <a:bodyPr/>
          <a:lstStyle>
            <a:lvl1pPr>
              <a:defRPr/>
            </a:lvl1pPr>
          </a:lstStyle>
          <a:p>
            <a:fld id="{34330A98-48F2-4A7F-B9F9-6F680C7F6999}" type="slidenum">
              <a:rPr lang="es-ES" altLang="es-ES"/>
              <a:pPr/>
              <a:t>‹#›</a:t>
            </a:fld>
            <a:endParaRPr lang="es-ES" altLang="es-ES"/>
          </a:p>
        </p:txBody>
      </p:sp>
    </p:spTree>
    <p:extLst>
      <p:ext uri="{BB962C8B-B14F-4D97-AF65-F5344CB8AC3E}">
        <p14:creationId xmlns:p14="http://schemas.microsoft.com/office/powerpoint/2010/main" val="4083660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EC4C3D88-0129-44B4-A78D-850DC80DA221}" type="datetimeFigureOut">
              <a:rPr lang="es-ES"/>
              <a:pPr>
                <a:defRPr/>
              </a:pPr>
              <a:t>23/09/2026</a:t>
            </a:fld>
            <a:endParaRPr lang="es-ES"/>
          </a:p>
        </p:txBody>
      </p:sp>
      <p:sp>
        <p:nvSpPr>
          <p:cNvPr id="6" name="4 Marcador de pie de página"/>
          <p:cNvSpPr>
            <a:spLocks noGrp="1"/>
          </p:cNvSpPr>
          <p:nvPr>
            <p:ph type="ftr" sz="quarter" idx="11"/>
          </p:nvPr>
        </p:nvSpPr>
        <p:spPr/>
        <p:txBody>
          <a:bodyPr/>
          <a:lstStyle>
            <a:lvl1pPr>
              <a:defRPr/>
            </a:lvl1pPr>
          </a:lstStyle>
          <a:p>
            <a:pPr>
              <a:defRPr/>
            </a:pPr>
            <a:endParaRPr lang="es-ES"/>
          </a:p>
        </p:txBody>
      </p:sp>
      <p:sp>
        <p:nvSpPr>
          <p:cNvPr id="7" name="5 Marcador de número de diapositiva"/>
          <p:cNvSpPr>
            <a:spLocks noGrp="1"/>
          </p:cNvSpPr>
          <p:nvPr>
            <p:ph type="sldNum" sz="quarter" idx="12"/>
          </p:nvPr>
        </p:nvSpPr>
        <p:spPr/>
        <p:txBody>
          <a:bodyPr/>
          <a:lstStyle>
            <a:lvl1pPr>
              <a:defRPr/>
            </a:lvl1pPr>
          </a:lstStyle>
          <a:p>
            <a:fld id="{C739192A-6BF1-41D6-9F2E-A03FF5497D3F}" type="slidenum">
              <a:rPr lang="es-ES" altLang="es-ES"/>
              <a:pPr/>
              <a:t>‹#›</a:t>
            </a:fld>
            <a:endParaRPr lang="es-ES" altLang="es-ES"/>
          </a:p>
        </p:txBody>
      </p:sp>
    </p:spTree>
    <p:extLst>
      <p:ext uri="{BB962C8B-B14F-4D97-AF65-F5344CB8AC3E}">
        <p14:creationId xmlns:p14="http://schemas.microsoft.com/office/powerpoint/2010/main" val="1510752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653E63C7-0D61-44F5-9E41-E974EFB7338A}" type="datetimeFigureOut">
              <a:rPr lang="es-ES"/>
              <a:pPr>
                <a:defRPr/>
              </a:pPr>
              <a:t>23/09/2026</a:t>
            </a:fld>
            <a:endParaRPr lang="es-ES"/>
          </a:p>
        </p:txBody>
      </p:sp>
      <p:sp>
        <p:nvSpPr>
          <p:cNvPr id="6" name="4 Marcador de pie de página"/>
          <p:cNvSpPr>
            <a:spLocks noGrp="1"/>
          </p:cNvSpPr>
          <p:nvPr>
            <p:ph type="ftr" sz="quarter" idx="11"/>
          </p:nvPr>
        </p:nvSpPr>
        <p:spPr/>
        <p:txBody>
          <a:bodyPr/>
          <a:lstStyle>
            <a:lvl1pPr>
              <a:defRPr/>
            </a:lvl1pPr>
          </a:lstStyle>
          <a:p>
            <a:pPr>
              <a:defRPr/>
            </a:pPr>
            <a:endParaRPr lang="es-ES"/>
          </a:p>
        </p:txBody>
      </p:sp>
      <p:sp>
        <p:nvSpPr>
          <p:cNvPr id="7" name="5 Marcador de número de diapositiva"/>
          <p:cNvSpPr>
            <a:spLocks noGrp="1"/>
          </p:cNvSpPr>
          <p:nvPr>
            <p:ph type="sldNum" sz="quarter" idx="12"/>
          </p:nvPr>
        </p:nvSpPr>
        <p:spPr/>
        <p:txBody>
          <a:bodyPr/>
          <a:lstStyle>
            <a:lvl1pPr>
              <a:defRPr/>
            </a:lvl1pPr>
          </a:lstStyle>
          <a:p>
            <a:fld id="{D716076D-EE89-41AF-B2F6-C523801EE135}" type="slidenum">
              <a:rPr lang="es-ES" altLang="es-ES"/>
              <a:pPr/>
              <a:t>‹#›</a:t>
            </a:fld>
            <a:endParaRPr lang="es-ES" altLang="es-ES"/>
          </a:p>
        </p:txBody>
      </p:sp>
    </p:spTree>
    <p:extLst>
      <p:ext uri="{BB962C8B-B14F-4D97-AF65-F5344CB8AC3E}">
        <p14:creationId xmlns:p14="http://schemas.microsoft.com/office/powerpoint/2010/main" val="159430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lvl1pPr>
              <a:defRPr/>
            </a:lvl1pPr>
          </a:lstStyle>
          <a:p>
            <a:pPr>
              <a:defRPr/>
            </a:pPr>
            <a:fld id="{21AE77AC-C72B-43CB-842B-EAD9971EED18}" type="datetimeFigureOut">
              <a:rPr lang="es-ES"/>
              <a:pPr>
                <a:defRPr/>
              </a:pPr>
              <a:t>23/09/2026</a:t>
            </a:fld>
            <a:endParaRPr lang="es-ES"/>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p:txBody>
          <a:bodyPr/>
          <a:lstStyle>
            <a:lvl1pPr>
              <a:defRPr/>
            </a:lvl1pPr>
          </a:lstStyle>
          <a:p>
            <a:fld id="{E7425E29-E8CC-49F9-920B-29A802B56909}" type="slidenum">
              <a:rPr lang="es-ES" altLang="es-ES"/>
              <a:pPr/>
              <a:t>‹#›</a:t>
            </a:fld>
            <a:endParaRPr lang="es-ES" altLang="es-ES"/>
          </a:p>
        </p:txBody>
      </p:sp>
    </p:spTree>
    <p:extLst>
      <p:ext uri="{BB962C8B-B14F-4D97-AF65-F5344CB8AC3E}">
        <p14:creationId xmlns:p14="http://schemas.microsoft.com/office/powerpoint/2010/main" val="338352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lvl1pPr>
              <a:defRPr/>
            </a:lvl1pPr>
          </a:lstStyle>
          <a:p>
            <a:pPr>
              <a:defRPr/>
            </a:pPr>
            <a:fld id="{95BB1196-15FA-4625-B1F9-30EAFF54C661}" type="datetimeFigureOut">
              <a:rPr lang="es-ES"/>
              <a:pPr>
                <a:defRPr/>
              </a:pPr>
              <a:t>23/09/2026</a:t>
            </a:fld>
            <a:endParaRPr lang="es-ES"/>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p:txBody>
          <a:bodyPr/>
          <a:lstStyle>
            <a:lvl1pPr>
              <a:defRPr/>
            </a:lvl1pPr>
          </a:lstStyle>
          <a:p>
            <a:fld id="{A1E2F15F-1360-4723-A4F3-15C0C70C0F44}" type="slidenum">
              <a:rPr lang="es-ES" altLang="es-ES"/>
              <a:pPr/>
              <a:t>‹#›</a:t>
            </a:fld>
            <a:endParaRPr lang="es-ES" altLang="es-ES"/>
          </a:p>
        </p:txBody>
      </p:sp>
    </p:spTree>
    <p:extLst>
      <p:ext uri="{BB962C8B-B14F-4D97-AF65-F5344CB8AC3E}">
        <p14:creationId xmlns:p14="http://schemas.microsoft.com/office/powerpoint/2010/main" val="3578753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ES" smtClean="0"/>
              <a:t>Haga clic para modificar el estilo de título del patrón</a:t>
            </a:r>
          </a:p>
        </p:txBody>
      </p:sp>
      <p:sp>
        <p:nvSpPr>
          <p:cNvPr id="1027" name="2 Marcador de texto"/>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ES" smtClean="0"/>
              <a:t>Haga clic para modificar el estilo de texto del patrón</a:t>
            </a:r>
          </a:p>
          <a:p>
            <a:pPr lvl="1"/>
            <a:r>
              <a:rPr lang="es-ES" altLang="es-ES" smtClean="0"/>
              <a:t>Segundo nivel</a:t>
            </a:r>
          </a:p>
          <a:p>
            <a:pPr lvl="2"/>
            <a:r>
              <a:rPr lang="es-ES" altLang="es-ES" smtClean="0"/>
              <a:t>Tercer nivel</a:t>
            </a:r>
          </a:p>
          <a:p>
            <a:pPr lvl="3"/>
            <a:r>
              <a:rPr lang="es-ES" altLang="es-ES" smtClean="0"/>
              <a:t>Cuarto nivel</a:t>
            </a:r>
          </a:p>
          <a:p>
            <a:pPr lvl="4"/>
            <a:r>
              <a:rPr lang="es-ES" altLang="es-ES" smtClean="0"/>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17FCFDAD-C11A-4923-A5E9-0F4BD807EBFF}" type="datetimeFigureOut">
              <a:rPr lang="es-ES"/>
              <a:pPr>
                <a:defRPr/>
              </a:pPr>
              <a:t>23/09/2026</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fld id="{E3BCBC40-7925-48A5-A80C-3BDBB659DEBE}" type="slidenum">
              <a:rPr lang="es-ES" altLang="es-ES"/>
              <a:pPr/>
              <a:t>‹#›</a:t>
            </a:fld>
            <a:endParaRPr lang="es-ES" alt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1 Título"/>
          <p:cNvSpPr>
            <a:spLocks noGrp="1"/>
          </p:cNvSpPr>
          <p:nvPr>
            <p:ph type="title"/>
          </p:nvPr>
        </p:nvSpPr>
        <p:spPr>
          <a:xfrm>
            <a:off x="250825" y="123825"/>
            <a:ext cx="8642350" cy="490538"/>
          </a:xfrm>
        </p:spPr>
        <p:txBody>
          <a:bodyPr/>
          <a:lstStyle/>
          <a:p>
            <a:pPr eaLnBrk="1" hangingPunct="1"/>
            <a:r>
              <a:rPr lang="es-CO" altLang="es-CO" sz="2400" b="1" smtClean="0">
                <a:solidFill>
                  <a:srgbClr val="FF0000"/>
                </a:solidFill>
                <a:latin typeface="Arial" panose="020B0604020202020204" pitchFamily="34" charset="0"/>
                <a:cs typeface="Arial" panose="020B0604020202020204" pitchFamily="34" charset="0"/>
              </a:rPr>
              <a:t>Arquitectura Fundamental  Bases de Datos</a:t>
            </a:r>
            <a:r>
              <a:rPr lang="es-ES" altLang="es-CO" sz="2400" b="1" smtClean="0">
                <a:solidFill>
                  <a:srgbClr val="FF0000"/>
                </a:solidFill>
                <a:latin typeface="Arial" panose="020B0604020202020204" pitchFamily="34" charset="0"/>
                <a:cs typeface="Arial" panose="020B0604020202020204" pitchFamily="34" charset="0"/>
              </a:rPr>
              <a:t> Avanzadas</a:t>
            </a:r>
            <a:endParaRPr lang="es-CO" altLang="es-ES" sz="2200" i="1" smtClean="0">
              <a:solidFill>
                <a:srgbClr val="FF0000"/>
              </a:solidFill>
              <a:latin typeface="Arial" panose="020B0604020202020204" pitchFamily="34" charset="0"/>
              <a:cs typeface="Arial" panose="020B0604020202020204" pitchFamily="34" charset="0"/>
            </a:endParaRPr>
          </a:p>
        </p:txBody>
      </p:sp>
      <p:sp>
        <p:nvSpPr>
          <p:cNvPr id="8" name="2 Subtítulo"/>
          <p:cNvSpPr txBox="1">
            <a:spLocks/>
          </p:cNvSpPr>
          <p:nvPr/>
        </p:nvSpPr>
        <p:spPr>
          <a:xfrm>
            <a:off x="500063" y="4214813"/>
            <a:ext cx="7993062" cy="10001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p:txBody>
      </p:sp>
      <p:sp>
        <p:nvSpPr>
          <p:cNvPr id="10" name="2 Subtítulo"/>
          <p:cNvSpPr txBox="1">
            <a:spLocks noChangeArrowheads="1"/>
          </p:cNvSpPr>
          <p:nvPr/>
        </p:nvSpPr>
        <p:spPr bwMode="auto">
          <a:xfrm>
            <a:off x="574675" y="708025"/>
            <a:ext cx="7993063" cy="6149975"/>
          </a:xfrm>
          <a:prstGeom prst="rect">
            <a:avLst/>
          </a:prstGeom>
          <a:noFill/>
          <a:ln>
            <a:noFill/>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defRPr/>
            </a:pPr>
            <a:r>
              <a:rPr lang="es-ES" sz="2000" b="1" dirty="0"/>
              <a:t> </a:t>
            </a:r>
            <a:r>
              <a:rPr lang="es-ES" sz="1800" b="1" dirty="0">
                <a:latin typeface="Segoe UI" panose="020B0502040204020203" pitchFamily="34" charset="0"/>
                <a:cs typeface="Segoe UI" panose="020B0502040204020203" pitchFamily="34" charset="0"/>
              </a:rPr>
              <a:t>En esta Arquitectura de las BDA:</a:t>
            </a:r>
            <a:r>
              <a:rPr lang="es-ES" sz="1800" dirty="0">
                <a:latin typeface="Segoe UI" panose="020B0502040204020203" pitchFamily="34" charset="0"/>
                <a:cs typeface="Segoe UI" panose="020B0502040204020203" pitchFamily="34" charset="0"/>
              </a:rPr>
              <a:t> Se estudian técnicas, arquitecturas y tecnologías que permiten diseñar, implementar, integrar, distribuir, procesar y analizar grandes cantidades de datos, manteniendo características como:</a:t>
            </a:r>
          </a:p>
          <a:p>
            <a:pPr algn="just">
              <a:buFont typeface="Arial" panose="020B0604020202020204" pitchFamily="34" charset="0"/>
              <a:buNone/>
              <a:defRPr/>
            </a:pPr>
            <a:endParaRPr lang="es-ES" sz="1800" dirty="0">
              <a:latin typeface="Segoe UI" panose="020B0502040204020203" pitchFamily="34" charset="0"/>
              <a:cs typeface="Segoe UI" panose="020B0502040204020203" pitchFamily="34" charset="0"/>
            </a:endParaRP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Integridad</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Consistencia</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Seguridad</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Disponibilidad</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Escalabilidad</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Interoperabilidad</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Portabilidad</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Reusabilidad</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Modularidad</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Flexibilidad</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r>
              <a:rPr lang="es-ES" sz="1800" b="1" dirty="0">
                <a:latin typeface="Segoe UI" panose="020B0502040204020203" pitchFamily="34" charset="0"/>
                <a:cs typeface="Segoe UI" panose="020B0502040204020203" pitchFamily="34" charset="0"/>
              </a:rPr>
              <a:t>Trazabilidad</a:t>
            </a:r>
            <a:r>
              <a:rPr lang="es-ES" sz="1800" dirty="0">
                <a:latin typeface="Segoe UI" panose="020B0502040204020203" pitchFamily="34" charset="0"/>
                <a:cs typeface="Segoe UI" panose="020B0502040204020203" pitchFamily="34" charset="0"/>
              </a:rPr>
              <a:t> </a:t>
            </a:r>
          </a:p>
          <a:p>
            <a:pPr marL="342900" indent="-342900">
              <a:buFont typeface="Wingdings" panose="05000000000000000000" pitchFamily="2" charset="2"/>
              <a:buChar char="ü"/>
              <a:defRPr/>
            </a:pPr>
            <a:endParaRPr lang="es-ES" sz="1800" dirty="0">
              <a:latin typeface="Segoe UI" panose="020B0502040204020203" pitchFamily="34" charset="0"/>
              <a:cs typeface="Segoe UI" panose="020B0502040204020203" pitchFamily="34" charset="0"/>
            </a:endParaRPr>
          </a:p>
          <a:p>
            <a:pPr>
              <a:defRPr/>
            </a:pPr>
            <a:r>
              <a:rPr lang="es-ES" sz="1800" dirty="0">
                <a:latin typeface="Segoe UI" panose="020B0502040204020203" pitchFamily="34" charset="0"/>
                <a:cs typeface="Segoe UI" panose="020B0502040204020203" pitchFamily="34" charset="0"/>
              </a:rPr>
              <a:t>No se limita al diseño de tablas si no incluye también la evolución de los datos desde un sistema transaccional hasta arquitecturas distribuidas y analíticas.</a:t>
            </a:r>
          </a:p>
        </p:txBody>
      </p:sp>
      <p:sp>
        <p:nvSpPr>
          <p:cNvPr id="12" name="2 Subtítulo"/>
          <p:cNvSpPr txBox="1">
            <a:spLocks/>
          </p:cNvSpPr>
          <p:nvPr/>
        </p:nvSpPr>
        <p:spPr bwMode="auto">
          <a:xfrm>
            <a:off x="612775" y="4714875"/>
            <a:ext cx="7993063"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p:txBody>
      </p:sp>
      <p:sp>
        <p:nvSpPr>
          <p:cNvPr id="13" name="2 Subtítulo"/>
          <p:cNvSpPr txBox="1">
            <a:spLocks/>
          </p:cNvSpPr>
          <p:nvPr/>
        </p:nvSpPr>
        <p:spPr bwMode="auto">
          <a:xfrm>
            <a:off x="617538" y="4451350"/>
            <a:ext cx="7993062"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plus(in)">
                                      <p:cBhvr>
                                        <p:cTn id="7" dur="20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amond(in)">
                                      <p:cBhvr>
                                        <p:cTn id="17" dur="20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amond(in)">
                                      <p:cBhvr>
                                        <p:cTn id="2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10" grpId="0"/>
      <p:bldP spid="12"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ítulo 1"/>
          <p:cNvSpPr>
            <a:spLocks noGrp="1"/>
          </p:cNvSpPr>
          <p:nvPr>
            <p:ph type="title"/>
          </p:nvPr>
        </p:nvSpPr>
        <p:spPr>
          <a:xfrm>
            <a:off x="457200" y="46038"/>
            <a:ext cx="8229600" cy="457200"/>
          </a:xfrm>
        </p:spPr>
        <p:txBody>
          <a:bodyPr/>
          <a:lstStyle/>
          <a:p>
            <a:r>
              <a:rPr lang="es-CO" altLang="es-CO" sz="2000" b="1" smtClean="0">
                <a:solidFill>
                  <a:srgbClr val="FF0000"/>
                </a:solidFill>
                <a:latin typeface="Arial" panose="020B0604020202020204" pitchFamily="34" charset="0"/>
                <a:cs typeface="Arial" panose="020B0604020202020204" pitchFamily="34" charset="0"/>
              </a:rPr>
              <a:t>Arquitectura Fundamental  Bases de Datos</a:t>
            </a:r>
            <a:r>
              <a:rPr lang="es-ES" altLang="es-CO" sz="2000" b="1" smtClean="0">
                <a:solidFill>
                  <a:srgbClr val="FF0000"/>
                </a:solidFill>
                <a:latin typeface="Arial" panose="020B0604020202020204" pitchFamily="34" charset="0"/>
                <a:cs typeface="Arial" panose="020B0604020202020204" pitchFamily="34" charset="0"/>
              </a:rPr>
              <a:t> Avanzadas - Diseño</a:t>
            </a:r>
            <a:endParaRPr lang="es-CO" altLang="es-CO" sz="2000" b="1" smtClean="0">
              <a:solidFill>
                <a:srgbClr val="FF0000"/>
              </a:solidFill>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420688" y="536575"/>
            <a:ext cx="8229600" cy="6321425"/>
          </a:xfrm>
        </p:spPr>
        <p:txBody>
          <a:bodyPr/>
          <a:lstStyle/>
          <a:p>
            <a:pPr>
              <a:defRPr/>
            </a:pPr>
            <a:r>
              <a:rPr lang="es-ES" sz="1600" dirty="0">
                <a:latin typeface="Arial" panose="020B0604020202020204" pitchFamily="34" charset="0"/>
                <a:cs typeface="Arial" panose="020B0604020202020204" pitchFamily="34" charset="0"/>
              </a:rPr>
              <a:t>Elementos, Componentes, Comportamiento, Tratamiento y Aplicación </a:t>
            </a:r>
          </a:p>
          <a:p>
            <a:pPr>
              <a:defRPr/>
            </a:pPr>
            <a:r>
              <a:rPr lang="es-ES" sz="1600" dirty="0">
                <a:latin typeface="Arial" panose="020B0604020202020204" pitchFamily="34" charset="0"/>
                <a:cs typeface="Arial" panose="020B0604020202020204" pitchFamily="34" charset="0"/>
              </a:rPr>
              <a:t>                                        </a:t>
            </a:r>
          </a:p>
          <a:p>
            <a:pPr>
              <a:defRPr/>
            </a:pPr>
            <a:r>
              <a:rPr lang="es-ES" sz="1600" b="1" dirty="0">
                <a:latin typeface="Arial" panose="020B0604020202020204" pitchFamily="34" charset="0"/>
                <a:cs typeface="Arial" panose="020B0604020202020204" pitchFamily="34" charset="0"/>
              </a:rPr>
              <a:t>                                   Bases de Datos Avanzadas      </a:t>
            </a:r>
            <a:endParaRPr lang="es-CO" b="1" dirty="0"/>
          </a:p>
          <a:p>
            <a:pPr>
              <a:defRPr/>
            </a:pPr>
            <a:endParaRPr lang="es-CO" sz="1200" dirty="0"/>
          </a:p>
          <a:p>
            <a:pPr>
              <a:defRPr/>
            </a:pPr>
            <a:r>
              <a:rPr lang="es-CO" sz="2000" b="1" dirty="0"/>
              <a:t>Diseño                                 Implementación                                 Arquitectura</a:t>
            </a:r>
          </a:p>
          <a:p>
            <a:pPr>
              <a:defRPr/>
            </a:pPr>
            <a:endParaRPr lang="es-CO" sz="1600" dirty="0"/>
          </a:p>
          <a:p>
            <a:pPr>
              <a:defRPr/>
            </a:pPr>
            <a:r>
              <a:rPr lang="es-CO" sz="1600" dirty="0"/>
              <a:t>Entidades                                                  DDL                                                                   OLTP</a:t>
            </a:r>
          </a:p>
          <a:p>
            <a:pPr>
              <a:defRPr/>
            </a:pPr>
            <a:r>
              <a:rPr lang="es-CO" sz="1600" dirty="0"/>
              <a:t>Atributos                                                   DML                                                               Backend </a:t>
            </a:r>
          </a:p>
          <a:p>
            <a:pPr>
              <a:defRPr/>
            </a:pPr>
            <a:r>
              <a:rPr lang="es-CO" sz="1600" dirty="0"/>
              <a:t>Relaciones                                                CRUD                                                             API REST</a:t>
            </a:r>
          </a:p>
          <a:p>
            <a:pPr>
              <a:defRPr/>
            </a:pPr>
            <a:r>
              <a:rPr lang="es-CO" sz="1600" dirty="0"/>
              <a:t>Dependencias                                          DBMS                                                            Microservicios</a:t>
            </a:r>
          </a:p>
          <a:p>
            <a:pPr>
              <a:defRPr/>
            </a:pPr>
            <a:r>
              <a:rPr lang="es-CO" sz="1600" dirty="0"/>
              <a:t>Normalización                                                                                                                Docker</a:t>
            </a:r>
          </a:p>
          <a:p>
            <a:pPr>
              <a:defRPr/>
            </a:pPr>
            <a:r>
              <a:rPr lang="es-CO" sz="1600" dirty="0"/>
              <a:t>Modelo E-R                                                                                                                     BD Distribuidas </a:t>
            </a:r>
          </a:p>
          <a:p>
            <a:pPr>
              <a:defRPr/>
            </a:pPr>
            <a:r>
              <a:rPr lang="es-CO" sz="1600" dirty="0"/>
              <a:t>Modelo Relacional</a:t>
            </a:r>
          </a:p>
          <a:p>
            <a:pPr marL="0" indent="0">
              <a:buFont typeface="Arial" panose="020B0604020202020204" pitchFamily="34" charset="0"/>
              <a:buNone/>
              <a:defRPr/>
            </a:pPr>
            <a:r>
              <a:rPr lang="es-CO" sz="1800" dirty="0"/>
              <a:t>                                                          Datos Analíticos</a:t>
            </a:r>
          </a:p>
          <a:p>
            <a:pPr marL="0" indent="0">
              <a:buFont typeface="Arial" panose="020B0604020202020204" pitchFamily="34" charset="0"/>
              <a:buNone/>
              <a:defRPr/>
            </a:pPr>
            <a:r>
              <a:rPr lang="es-CO" sz="1800" dirty="0"/>
              <a:t>                                                              </a:t>
            </a:r>
          </a:p>
          <a:p>
            <a:pPr marL="0" indent="0">
              <a:buFont typeface="Arial" panose="020B0604020202020204" pitchFamily="34" charset="0"/>
              <a:buNone/>
              <a:defRPr/>
            </a:pPr>
            <a:r>
              <a:rPr lang="es-CO" sz="1800" dirty="0"/>
              <a:t>                                                                ETL  / ELT </a:t>
            </a:r>
          </a:p>
          <a:p>
            <a:pPr marL="0" indent="0">
              <a:buFont typeface="Arial" panose="020B0604020202020204" pitchFamily="34" charset="0"/>
              <a:buNone/>
              <a:defRPr/>
            </a:pPr>
            <a:endParaRPr lang="es-CO" sz="1800" dirty="0"/>
          </a:p>
          <a:p>
            <a:pPr marL="0" indent="0">
              <a:buFont typeface="Arial" panose="020B0604020202020204" pitchFamily="34" charset="0"/>
              <a:buNone/>
              <a:defRPr/>
            </a:pPr>
            <a:r>
              <a:rPr lang="es-CO" sz="1800" dirty="0"/>
              <a:t>                                                           Data WareHouse</a:t>
            </a:r>
          </a:p>
          <a:p>
            <a:pPr marL="0" indent="0">
              <a:buFont typeface="Arial" panose="020B0604020202020204" pitchFamily="34" charset="0"/>
              <a:buNone/>
              <a:defRPr/>
            </a:pPr>
            <a:endParaRPr lang="es-CO" sz="1800" dirty="0"/>
          </a:p>
          <a:p>
            <a:pPr marL="0" indent="0">
              <a:buFont typeface="Arial" panose="020B0604020202020204" pitchFamily="34" charset="0"/>
              <a:buNone/>
              <a:defRPr/>
            </a:pPr>
            <a:r>
              <a:rPr lang="es-CO" sz="1800" dirty="0"/>
              <a:t>                                                          Analítica de Datos</a:t>
            </a:r>
          </a:p>
        </p:txBody>
      </p:sp>
      <p:cxnSp>
        <p:nvCxnSpPr>
          <p:cNvPr id="5" name="Conector recto 4"/>
          <p:cNvCxnSpPr>
            <a:cxnSpLocks/>
          </p:cNvCxnSpPr>
          <p:nvPr/>
        </p:nvCxnSpPr>
        <p:spPr>
          <a:xfrm>
            <a:off x="1116013" y="1484313"/>
            <a:ext cx="65516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de flecha 7"/>
          <p:cNvCxnSpPr/>
          <p:nvPr/>
        </p:nvCxnSpPr>
        <p:spPr>
          <a:xfrm>
            <a:off x="1116013" y="1484313"/>
            <a:ext cx="0" cy="288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p:cNvCxnSpPr/>
          <p:nvPr/>
        </p:nvCxnSpPr>
        <p:spPr>
          <a:xfrm>
            <a:off x="4211638" y="1484313"/>
            <a:ext cx="0" cy="288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p:cNvCxnSpPr/>
          <p:nvPr/>
        </p:nvCxnSpPr>
        <p:spPr>
          <a:xfrm>
            <a:off x="7667625" y="1484313"/>
            <a:ext cx="0" cy="288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p:cNvCxnSpPr>
            <a:cxnSpLocks/>
          </p:cNvCxnSpPr>
          <p:nvPr/>
        </p:nvCxnSpPr>
        <p:spPr>
          <a:xfrm>
            <a:off x="4211638" y="3644900"/>
            <a:ext cx="0" cy="647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p:cNvCxnSpPr>
            <a:cxnSpLocks/>
          </p:cNvCxnSpPr>
          <p:nvPr/>
        </p:nvCxnSpPr>
        <p:spPr>
          <a:xfrm>
            <a:off x="4211638" y="4646613"/>
            <a:ext cx="0" cy="366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a:cxnSpLocks/>
          </p:cNvCxnSpPr>
          <p:nvPr/>
        </p:nvCxnSpPr>
        <p:spPr>
          <a:xfrm>
            <a:off x="4211638" y="5318125"/>
            <a:ext cx="0" cy="36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p:cNvCxnSpPr>
            <a:cxnSpLocks/>
          </p:cNvCxnSpPr>
          <p:nvPr/>
        </p:nvCxnSpPr>
        <p:spPr>
          <a:xfrm>
            <a:off x="4211638" y="6021388"/>
            <a:ext cx="0" cy="366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1 Título"/>
          <p:cNvSpPr>
            <a:spLocks noGrp="1"/>
          </p:cNvSpPr>
          <p:nvPr>
            <p:ph type="title"/>
          </p:nvPr>
        </p:nvSpPr>
        <p:spPr>
          <a:xfrm>
            <a:off x="287338" y="88900"/>
            <a:ext cx="8642350" cy="490538"/>
          </a:xfrm>
        </p:spPr>
        <p:txBody>
          <a:bodyPr/>
          <a:lstStyle/>
          <a:p>
            <a:pPr eaLnBrk="1" hangingPunct="1"/>
            <a:r>
              <a:rPr lang="es-MX" altLang="es-ES" sz="1800" b="1" i="1" smtClean="0">
                <a:solidFill>
                  <a:srgbClr val="FF0000"/>
                </a:solidFill>
                <a:latin typeface="Arial" panose="020B0604020202020204" pitchFamily="34" charset="0"/>
                <a:cs typeface="Arial" panose="020B0604020202020204" pitchFamily="34" charset="0"/>
              </a:rPr>
              <a:t>SECUENCIA FUNDAMENTAL DE LAS BASES DE DATOS</a:t>
            </a:r>
            <a:endParaRPr lang="es-CO" altLang="es-ES" sz="1800" i="1" smtClean="0">
              <a:solidFill>
                <a:srgbClr val="FF0000"/>
              </a:solidFill>
              <a:latin typeface="Arial" panose="020B0604020202020204" pitchFamily="34" charset="0"/>
              <a:cs typeface="Arial" panose="020B0604020202020204" pitchFamily="34" charset="0"/>
            </a:endParaRPr>
          </a:p>
        </p:txBody>
      </p:sp>
      <p:sp>
        <p:nvSpPr>
          <p:cNvPr id="8" name="2 Subtítulo"/>
          <p:cNvSpPr txBox="1">
            <a:spLocks/>
          </p:cNvSpPr>
          <p:nvPr/>
        </p:nvSpPr>
        <p:spPr>
          <a:xfrm>
            <a:off x="500063" y="4214813"/>
            <a:ext cx="7993062" cy="10001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p:txBody>
      </p:sp>
      <p:sp>
        <p:nvSpPr>
          <p:cNvPr id="10" name="2 Subtítulo"/>
          <p:cNvSpPr txBox="1">
            <a:spLocks noChangeArrowheads="1"/>
          </p:cNvSpPr>
          <p:nvPr/>
        </p:nvSpPr>
        <p:spPr bwMode="auto">
          <a:xfrm>
            <a:off x="557213" y="592138"/>
            <a:ext cx="7993062" cy="61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 typeface="Arial" panose="020B0604020202020204" pitchFamily="34" charset="0"/>
              <a:buNone/>
            </a:pPr>
            <a:r>
              <a:rPr lang="es-CO" altLang="es-CO" sz="1600" b="1">
                <a:latin typeface="Segoui"/>
              </a:rPr>
              <a:t>REQUERIMIENTOS DEL NEGOCIO</a:t>
            </a:r>
          </a:p>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r>
              <a:rPr lang="es-CO" altLang="es-CO" sz="1600" b="1">
                <a:latin typeface="Segoui"/>
              </a:rPr>
              <a:t>REGLAS DEL NEGOCIO</a:t>
            </a:r>
          </a:p>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r>
              <a:rPr lang="es-CO" altLang="es-CO" sz="1600" b="1">
                <a:latin typeface="Segoui"/>
              </a:rPr>
              <a:t>IDENTIFICACIÓN DE SUSTANTIVOS</a:t>
            </a:r>
          </a:p>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r>
              <a:rPr lang="es-CO" altLang="es-CO" sz="1600" b="1">
                <a:latin typeface="Segoui"/>
              </a:rPr>
              <a:t>ENTIDADES / TABLAS CANDIDATAS</a:t>
            </a:r>
          </a:p>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r>
              <a:rPr lang="es-CO" altLang="es-CO" sz="1600" b="1">
                <a:latin typeface="Segoui"/>
              </a:rPr>
              <a:t>IDENTIFICACIÓN DE CARACTERÍSTICAS</a:t>
            </a:r>
          </a:p>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r>
              <a:rPr lang="es-CO" altLang="es-CO" sz="1600" b="1">
                <a:latin typeface="Segoui"/>
              </a:rPr>
              <a:t>ATRIBUTOS / CAMPOS</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IDENTIFICACIÓN DE VERBOS</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RELACIONES Y PROCESOS</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CARDINALIDADES</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CLAVES PRIMARIAS Y FORÁNEAS  - PK / FK</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DEPENDENCIAS FUNCIONALES</a:t>
            </a:r>
          </a:p>
          <a:p>
            <a:pPr algn="ctr" eaLnBrk="1" hangingPunct="1">
              <a:buFont typeface="Arial" panose="020B0604020202020204" pitchFamily="34" charset="0"/>
              <a:buNone/>
            </a:pPr>
            <a:r>
              <a:rPr lang="es-CO" altLang="es-CO" sz="1600" b="1">
                <a:latin typeface="Segoui"/>
              </a:rPr>
              <a:t>   </a:t>
            </a:r>
          </a:p>
          <a:p>
            <a:pPr algn="just" eaLnBrk="1" hangingPunct="1">
              <a:buFont typeface="Arial" panose="020B0604020202020204" pitchFamily="34" charset="0"/>
              <a:buNone/>
            </a:pPr>
            <a:endParaRPr lang="es-CO" altLang="es-CO" sz="2000">
              <a:latin typeface="Segoui"/>
            </a:endParaRPr>
          </a:p>
        </p:txBody>
      </p:sp>
      <p:sp>
        <p:nvSpPr>
          <p:cNvPr id="12" name="2 Subtítulo"/>
          <p:cNvSpPr txBox="1">
            <a:spLocks/>
          </p:cNvSpPr>
          <p:nvPr/>
        </p:nvSpPr>
        <p:spPr bwMode="auto">
          <a:xfrm>
            <a:off x="612775" y="4714875"/>
            <a:ext cx="7993063"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p:txBody>
      </p:sp>
      <p:sp>
        <p:nvSpPr>
          <p:cNvPr id="13" name="2 Subtítulo"/>
          <p:cNvSpPr txBox="1">
            <a:spLocks/>
          </p:cNvSpPr>
          <p:nvPr/>
        </p:nvSpPr>
        <p:spPr bwMode="auto">
          <a:xfrm>
            <a:off x="655638" y="4437063"/>
            <a:ext cx="7993062"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plus(in)">
                                      <p:cBhvr>
                                        <p:cTn id="7" dur="20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amond(in)">
                                      <p:cBhvr>
                                        <p:cTn id="17" dur="20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amond(in)">
                                      <p:cBhvr>
                                        <p:cTn id="2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10"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1 Título"/>
          <p:cNvSpPr>
            <a:spLocks noGrp="1"/>
          </p:cNvSpPr>
          <p:nvPr>
            <p:ph type="title"/>
          </p:nvPr>
        </p:nvSpPr>
        <p:spPr>
          <a:xfrm>
            <a:off x="250825" y="179388"/>
            <a:ext cx="8642350" cy="490537"/>
          </a:xfrm>
        </p:spPr>
        <p:txBody>
          <a:bodyPr/>
          <a:lstStyle/>
          <a:p>
            <a:pPr eaLnBrk="1" hangingPunct="1"/>
            <a:r>
              <a:rPr lang="es-MX" altLang="es-ES" sz="1800" b="1" i="1" smtClean="0">
                <a:solidFill>
                  <a:srgbClr val="FF0000"/>
                </a:solidFill>
                <a:latin typeface="Arial" panose="020B0604020202020204" pitchFamily="34" charset="0"/>
                <a:cs typeface="Arial" panose="020B0604020202020204" pitchFamily="34" charset="0"/>
              </a:rPr>
              <a:t>SECUENCIA FUNDAMENTAL DE LAS BASES DE DATOS</a:t>
            </a:r>
            <a:endParaRPr lang="es-CO" altLang="es-ES" sz="1800" i="1" smtClean="0">
              <a:solidFill>
                <a:srgbClr val="FF0000"/>
              </a:solidFill>
              <a:latin typeface="Arial" panose="020B0604020202020204" pitchFamily="34" charset="0"/>
              <a:cs typeface="Arial" panose="020B0604020202020204" pitchFamily="34" charset="0"/>
            </a:endParaRPr>
          </a:p>
        </p:txBody>
      </p:sp>
      <p:sp>
        <p:nvSpPr>
          <p:cNvPr id="8" name="2 Subtítulo"/>
          <p:cNvSpPr txBox="1">
            <a:spLocks/>
          </p:cNvSpPr>
          <p:nvPr/>
        </p:nvSpPr>
        <p:spPr>
          <a:xfrm>
            <a:off x="500063" y="4214813"/>
            <a:ext cx="7993062" cy="10001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p:txBody>
      </p:sp>
      <p:sp>
        <p:nvSpPr>
          <p:cNvPr id="10" name="2 Subtítulo"/>
          <p:cNvSpPr txBox="1">
            <a:spLocks noChangeArrowheads="1"/>
          </p:cNvSpPr>
          <p:nvPr/>
        </p:nvSpPr>
        <p:spPr bwMode="auto">
          <a:xfrm>
            <a:off x="576263" y="836613"/>
            <a:ext cx="7991475" cy="568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r>
              <a:rPr lang="es-CO" altLang="es-CO" sz="1600" b="1">
                <a:latin typeface="Segoui"/>
              </a:rPr>
              <a:t>NORMALIZACIÓN     1FN – 2FN – 3FN -4FN  </a:t>
            </a:r>
          </a:p>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r>
              <a:rPr lang="es-CO" altLang="es-CO" sz="1600" b="1">
                <a:latin typeface="Segoui"/>
              </a:rPr>
              <a:t>MODELO ENTIDAD–RELACIÓN</a:t>
            </a:r>
          </a:p>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r>
              <a:rPr lang="es-CO" altLang="es-CO" sz="1600" b="1">
                <a:latin typeface="Segoui"/>
              </a:rPr>
              <a:t>MODELO RELACIONAL</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DDL – DBMS – DML / CRUD</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  OLTP</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BACKEND  - PROCESOS</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    FRAMEWORK</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API REST</a:t>
            </a:r>
          </a:p>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r>
              <a:rPr lang="es-CO" altLang="es-CO" sz="1600" b="1">
                <a:latin typeface="Segoui"/>
              </a:rPr>
              <a:t>FRONTEND</a:t>
            </a:r>
          </a:p>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endParaRPr lang="es-CO" altLang="es-CO" sz="1600" b="1">
              <a:latin typeface="Segoui"/>
            </a:endParaRPr>
          </a:p>
          <a:p>
            <a:pPr algn="ctr" eaLnBrk="1" hangingPunct="1">
              <a:buFont typeface="Arial" panose="020B0604020202020204" pitchFamily="34" charset="0"/>
              <a:buNone/>
            </a:pPr>
            <a:endParaRPr lang="es-CO" altLang="es-CO" sz="1600" b="1">
              <a:latin typeface="Segoui"/>
            </a:endParaRPr>
          </a:p>
          <a:p>
            <a:pPr algn="just" eaLnBrk="1" hangingPunct="1">
              <a:buFont typeface="Arial" panose="020B0604020202020204" pitchFamily="34" charset="0"/>
              <a:buNone/>
            </a:pPr>
            <a:endParaRPr lang="es-CO" altLang="es-CO" sz="2000">
              <a:latin typeface="Segoui"/>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plus(in)">
                                      <p:cBhvr>
                                        <p:cTn id="7" dur="20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1 Título"/>
          <p:cNvSpPr>
            <a:spLocks noGrp="1"/>
          </p:cNvSpPr>
          <p:nvPr>
            <p:ph type="title"/>
          </p:nvPr>
        </p:nvSpPr>
        <p:spPr>
          <a:xfrm>
            <a:off x="250825" y="188913"/>
            <a:ext cx="8642350" cy="490537"/>
          </a:xfrm>
        </p:spPr>
        <p:txBody>
          <a:bodyPr/>
          <a:lstStyle/>
          <a:p>
            <a:pPr eaLnBrk="1" hangingPunct="1"/>
            <a:r>
              <a:rPr lang="es-MX" altLang="es-ES" sz="1800" b="1" i="1" smtClean="0">
                <a:solidFill>
                  <a:srgbClr val="FF0000"/>
                </a:solidFill>
                <a:latin typeface="Arial" panose="020B0604020202020204" pitchFamily="34" charset="0"/>
                <a:cs typeface="Arial" panose="020B0604020202020204" pitchFamily="34" charset="0"/>
              </a:rPr>
              <a:t>SECUENCIA FUNDAMENTAL DE LAS BASES DE DATOS</a:t>
            </a:r>
            <a:endParaRPr lang="es-CO" altLang="es-ES" sz="1800" i="1" smtClean="0">
              <a:solidFill>
                <a:srgbClr val="FF0000"/>
              </a:solidFill>
              <a:latin typeface="Arial" panose="020B0604020202020204" pitchFamily="34" charset="0"/>
              <a:cs typeface="Arial" panose="020B0604020202020204" pitchFamily="34" charset="0"/>
            </a:endParaRPr>
          </a:p>
        </p:txBody>
      </p:sp>
      <p:sp>
        <p:nvSpPr>
          <p:cNvPr id="8" name="2 Subtítulo"/>
          <p:cNvSpPr txBox="1">
            <a:spLocks/>
          </p:cNvSpPr>
          <p:nvPr/>
        </p:nvSpPr>
        <p:spPr>
          <a:xfrm>
            <a:off x="500063" y="4214813"/>
            <a:ext cx="7993062" cy="10001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p:txBody>
      </p:sp>
      <p:sp>
        <p:nvSpPr>
          <p:cNvPr id="10" name="2 Subtítulo"/>
          <p:cNvSpPr txBox="1">
            <a:spLocks noChangeArrowheads="1"/>
          </p:cNvSpPr>
          <p:nvPr/>
        </p:nvSpPr>
        <p:spPr bwMode="auto">
          <a:xfrm>
            <a:off x="627063" y="765175"/>
            <a:ext cx="7991475"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 typeface="Arial" panose="020B0604020202020204" pitchFamily="34" charset="0"/>
              <a:buNone/>
            </a:pPr>
            <a:endParaRPr lang="es-CO" altLang="es-CO" sz="1600" b="1">
              <a:latin typeface="Segoui"/>
            </a:endParaRPr>
          </a:p>
          <a:p>
            <a:pPr algn="ctr" eaLnBrk="1" hangingPunct="1">
              <a:buFont typeface="Arial" panose="020B0604020202020204" pitchFamily="34" charset="0"/>
              <a:buNone/>
            </a:pPr>
            <a:r>
              <a:rPr lang="es-CO" altLang="es-CO" sz="1600" b="1">
                <a:latin typeface="Segoui"/>
              </a:rPr>
              <a:t>↓</a:t>
            </a:r>
          </a:p>
          <a:p>
            <a:pPr algn="ctr" eaLnBrk="1" hangingPunct="1">
              <a:buFont typeface="Arial" panose="020B0604020202020204" pitchFamily="34" charset="0"/>
              <a:buNone/>
            </a:pPr>
            <a:r>
              <a:rPr lang="es-CO" altLang="es-CO" sz="1600" b="1">
                <a:latin typeface="Segoui"/>
              </a:rPr>
              <a:t>SOA  /  MICROSERVICIOS  </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DOCKER</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KUBERNETES</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BASES DE DATOS - DISTRIBUIDAS</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  ETL /  ELT</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DATA - WAREHOUSE</a:t>
            </a:r>
          </a:p>
          <a:p>
            <a:pPr algn="ctr" eaLnBrk="1" hangingPunct="1">
              <a:buFont typeface="Arial" panose="020B0604020202020204" pitchFamily="34" charset="0"/>
              <a:buNone/>
            </a:pPr>
            <a:r>
              <a:rPr lang="es-CO" altLang="es-CO" sz="1600" b="1">
                <a:latin typeface="Segoui"/>
              </a:rPr>
              <a:t>    ↓</a:t>
            </a:r>
          </a:p>
          <a:p>
            <a:pPr algn="ctr" eaLnBrk="1" hangingPunct="1">
              <a:buFont typeface="Arial" panose="020B0604020202020204" pitchFamily="34" charset="0"/>
              <a:buNone/>
            </a:pPr>
            <a:r>
              <a:rPr lang="es-CO" altLang="es-CO" sz="1600" b="1">
                <a:latin typeface="Segoui"/>
              </a:rPr>
              <a:t>ANALITICA DE DATOS</a:t>
            </a:r>
          </a:p>
          <a:p>
            <a:pPr algn="ctr" eaLnBrk="1" hangingPunct="1">
              <a:buFont typeface="Arial" panose="020B0604020202020204" pitchFamily="34" charset="0"/>
              <a:buNone/>
            </a:pPr>
            <a:endParaRPr lang="es-CO" altLang="es-CO" sz="1600" b="1">
              <a:latin typeface="Segoui"/>
            </a:endParaRPr>
          </a:p>
          <a:p>
            <a:pPr algn="ctr" eaLnBrk="1" hangingPunct="1">
              <a:buFont typeface="Arial" panose="020B0604020202020204" pitchFamily="34" charset="0"/>
              <a:buNone/>
            </a:pPr>
            <a:endParaRPr lang="es-CO" altLang="es-CO" sz="1600" b="1">
              <a:latin typeface="Segoui"/>
            </a:endParaRPr>
          </a:p>
          <a:p>
            <a:pPr algn="just" eaLnBrk="1" hangingPunct="1">
              <a:buFont typeface="Arial" panose="020B0604020202020204" pitchFamily="34" charset="0"/>
              <a:buNone/>
            </a:pPr>
            <a:endParaRPr lang="es-CO" altLang="es-CO" sz="2000">
              <a:latin typeface="Segoui"/>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plus(in)">
                                      <p:cBhvr>
                                        <p:cTn id="7" dur="20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1 Título"/>
          <p:cNvSpPr>
            <a:spLocks noGrp="1"/>
          </p:cNvSpPr>
          <p:nvPr>
            <p:ph type="title"/>
          </p:nvPr>
        </p:nvSpPr>
        <p:spPr>
          <a:xfrm>
            <a:off x="250825" y="274638"/>
            <a:ext cx="8642350" cy="490537"/>
          </a:xfrm>
        </p:spPr>
        <p:txBody>
          <a:bodyPr/>
          <a:lstStyle/>
          <a:p>
            <a:pPr eaLnBrk="1" hangingPunct="1"/>
            <a:r>
              <a:rPr lang="es-MX" altLang="es-ES" sz="1800" b="1" i="1" smtClean="0">
                <a:solidFill>
                  <a:srgbClr val="FF0000"/>
                </a:solidFill>
                <a:latin typeface="Arial" panose="020B0604020202020204" pitchFamily="34" charset="0"/>
                <a:cs typeface="Arial" panose="020B0604020202020204" pitchFamily="34" charset="0"/>
              </a:rPr>
              <a:t>EXPLICACION DE LA SECUENCIA DE LAS BASES DE DATOS</a:t>
            </a:r>
            <a:endParaRPr lang="es-CO" altLang="es-ES" sz="1800" i="1" smtClean="0">
              <a:solidFill>
                <a:srgbClr val="FF0000"/>
              </a:solidFill>
              <a:latin typeface="Arial" panose="020B0604020202020204" pitchFamily="34" charset="0"/>
              <a:cs typeface="Arial" panose="020B0604020202020204" pitchFamily="34" charset="0"/>
            </a:endParaRPr>
          </a:p>
        </p:txBody>
      </p:sp>
      <p:sp>
        <p:nvSpPr>
          <p:cNvPr id="8" name="2 Subtítulo"/>
          <p:cNvSpPr txBox="1">
            <a:spLocks/>
          </p:cNvSpPr>
          <p:nvPr/>
        </p:nvSpPr>
        <p:spPr>
          <a:xfrm>
            <a:off x="500063" y="4214813"/>
            <a:ext cx="7993062" cy="10001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p:txBody>
      </p:sp>
      <p:sp>
        <p:nvSpPr>
          <p:cNvPr id="10" name="2 Subtítulo"/>
          <p:cNvSpPr txBox="1">
            <a:spLocks/>
          </p:cNvSpPr>
          <p:nvPr/>
        </p:nvSpPr>
        <p:spPr>
          <a:xfrm>
            <a:off x="574675" y="765175"/>
            <a:ext cx="7993063" cy="5688013"/>
          </a:xfrm>
          <a:prstGeom prst="rect">
            <a:avLst/>
          </a:prstGeom>
        </p:spPr>
        <p:txBody>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defRPr/>
            </a:pPr>
            <a:r>
              <a:rPr lang="es-MX" sz="2000" dirty="0">
                <a:solidFill>
                  <a:schemeClr val="tx1"/>
                </a:solidFill>
              </a:rPr>
              <a:t>Se debe establecer e iniciar una Analítica de datos desde los Requerimientos, con un análisis que ustedes identifiquen bien las necesidades y condiciones del Proyecto y entrega final de resultados.</a:t>
            </a:r>
          </a:p>
          <a:p>
            <a:pPr algn="just">
              <a:defRPr/>
            </a:pPr>
            <a:r>
              <a:rPr lang="es-ES" sz="2000" dirty="0">
                <a:solidFill>
                  <a:schemeClr val="tx1"/>
                </a:solidFill>
              </a:rPr>
              <a:t>En </a:t>
            </a:r>
            <a:r>
              <a:rPr lang="es-ES" sz="2000" b="1" dirty="0">
                <a:solidFill>
                  <a:schemeClr val="tx1"/>
                </a:solidFill>
              </a:rPr>
              <a:t>Bases de Datos Avanzadas</a:t>
            </a:r>
            <a:r>
              <a:rPr lang="es-ES" sz="2000" dirty="0">
                <a:solidFill>
                  <a:schemeClr val="tx1"/>
                </a:solidFill>
              </a:rPr>
              <a:t>, la Analítica de Datos es la etapa en la que transformamos los datos almacenados en información útil para comprender lo que ocurre, detectar patrones, medir indicadores y apoyar la toma de decisiones.</a:t>
            </a:r>
          </a:p>
          <a:p>
            <a:pPr algn="just">
              <a:defRPr/>
            </a:pPr>
            <a:r>
              <a:rPr lang="es-ES" sz="2000" dirty="0">
                <a:solidFill>
                  <a:schemeClr val="tx1"/>
                </a:solidFill>
              </a:rPr>
              <a:t>La Analítica de Datos es el proceso de recopilar, preparar, transformar, analizar y visualizar datos para obtener información, identificar patrones, generar indicadores y apoyar con los resultados la toma de decisiones.</a:t>
            </a:r>
          </a:p>
          <a:p>
            <a:pPr algn="just">
              <a:defRPr/>
            </a:pPr>
            <a:endParaRPr lang="es-MX" sz="2000" dirty="0">
              <a:solidFill>
                <a:schemeClr val="tx1"/>
              </a:solidFill>
            </a:endParaRPr>
          </a:p>
          <a:p>
            <a:pPr marL="342900" indent="-342900" algn="just">
              <a:buFont typeface="Wingdings" panose="05000000000000000000" pitchFamily="2" charset="2"/>
              <a:buChar char="ü"/>
              <a:defRPr/>
            </a:pPr>
            <a:r>
              <a:rPr lang="es-MX" sz="2000" dirty="0">
                <a:solidFill>
                  <a:schemeClr val="tx1"/>
                </a:solidFill>
              </a:rPr>
              <a:t>Identificar las Reglas del negocio qué condiciones existen en el negocio, y  el análisis de los  datos, para cumplir con los resultados de los requerimientos.</a:t>
            </a:r>
          </a:p>
          <a:p>
            <a:pPr marL="342900" indent="-342900" algn="just">
              <a:buFont typeface="Wingdings" panose="05000000000000000000" pitchFamily="2" charset="2"/>
              <a:buChar char="ü"/>
              <a:defRPr/>
            </a:pPr>
            <a:r>
              <a:rPr lang="es-MX" sz="2000" dirty="0">
                <a:solidFill>
                  <a:schemeClr val="tx1"/>
                </a:solidFill>
              </a:rPr>
              <a:t>Generar las entidades, tablas identificando los sustantivos.</a:t>
            </a:r>
          </a:p>
          <a:p>
            <a:pPr marL="342900" indent="-342900" algn="just">
              <a:buFont typeface="Wingdings" panose="05000000000000000000" pitchFamily="2" charset="2"/>
              <a:buChar char="ü"/>
              <a:defRPr/>
            </a:pPr>
            <a:r>
              <a:rPr lang="es-MX" sz="2000" dirty="0">
                <a:solidFill>
                  <a:schemeClr val="tx1"/>
                </a:solidFill>
              </a:rPr>
              <a:t>Generar las características que se necesitan para guardar los atributos identificando los adjetivos.</a:t>
            </a:r>
          </a:p>
          <a:p>
            <a:pPr algn="just">
              <a:defRPr/>
            </a:pPr>
            <a:endParaRPr lang="es-MX" sz="2000" dirty="0">
              <a:solidFill>
                <a:schemeClr val="tx1"/>
              </a:solidFill>
            </a:endParaRPr>
          </a:p>
          <a:p>
            <a:pPr algn="just">
              <a:defRPr/>
            </a:pPr>
            <a:endParaRPr lang="es-CO" sz="2000" dirty="0">
              <a:solidFill>
                <a:schemeClr val="tx1"/>
              </a:solidFill>
            </a:endParaRPr>
          </a:p>
        </p:txBody>
      </p:sp>
      <p:sp>
        <p:nvSpPr>
          <p:cNvPr id="12" name="2 Subtítulo"/>
          <p:cNvSpPr txBox="1">
            <a:spLocks/>
          </p:cNvSpPr>
          <p:nvPr/>
        </p:nvSpPr>
        <p:spPr bwMode="auto">
          <a:xfrm>
            <a:off x="612775" y="4714875"/>
            <a:ext cx="7993063"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p:txBody>
      </p:sp>
      <p:sp>
        <p:nvSpPr>
          <p:cNvPr id="13" name="2 Subtítulo"/>
          <p:cNvSpPr txBox="1">
            <a:spLocks/>
          </p:cNvSpPr>
          <p:nvPr/>
        </p:nvSpPr>
        <p:spPr bwMode="auto">
          <a:xfrm>
            <a:off x="622300" y="4214813"/>
            <a:ext cx="7993063"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plus(in)">
                                      <p:cBhvr>
                                        <p:cTn id="7" dur="20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amond(in)">
                                      <p:cBhvr>
                                        <p:cTn id="17" dur="20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amond(in)">
                                      <p:cBhvr>
                                        <p:cTn id="2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10"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1 Título"/>
          <p:cNvSpPr>
            <a:spLocks noGrp="1"/>
          </p:cNvSpPr>
          <p:nvPr>
            <p:ph type="title"/>
          </p:nvPr>
        </p:nvSpPr>
        <p:spPr>
          <a:xfrm>
            <a:off x="250825" y="274638"/>
            <a:ext cx="8642350" cy="490537"/>
          </a:xfrm>
        </p:spPr>
        <p:txBody>
          <a:bodyPr/>
          <a:lstStyle/>
          <a:p>
            <a:pPr eaLnBrk="1" hangingPunct="1"/>
            <a:r>
              <a:rPr lang="es-MX" altLang="es-ES" sz="1800" b="1" i="1" smtClean="0">
                <a:solidFill>
                  <a:srgbClr val="FF0000"/>
                </a:solidFill>
                <a:latin typeface="Arial" panose="020B0604020202020204" pitchFamily="34" charset="0"/>
                <a:cs typeface="Arial" panose="020B0604020202020204" pitchFamily="34" charset="0"/>
              </a:rPr>
              <a:t>EXPLICACION DE LA SECUENCIA DE LAS BASES DE DATOS</a:t>
            </a:r>
            <a:endParaRPr lang="es-CO" altLang="es-ES" sz="1800" i="1" smtClean="0">
              <a:solidFill>
                <a:srgbClr val="FF0000"/>
              </a:solidFill>
              <a:latin typeface="Arial" panose="020B0604020202020204" pitchFamily="34" charset="0"/>
              <a:cs typeface="Arial" panose="020B0604020202020204" pitchFamily="34" charset="0"/>
            </a:endParaRPr>
          </a:p>
        </p:txBody>
      </p:sp>
      <p:sp>
        <p:nvSpPr>
          <p:cNvPr id="8" name="2 Subtítulo"/>
          <p:cNvSpPr txBox="1">
            <a:spLocks/>
          </p:cNvSpPr>
          <p:nvPr/>
        </p:nvSpPr>
        <p:spPr>
          <a:xfrm>
            <a:off x="500063" y="4214813"/>
            <a:ext cx="7993062" cy="10001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a:p>
            <a:pPr algn="just" fontAlgn="auto">
              <a:spcAft>
                <a:spcPts val="0"/>
              </a:spcAft>
              <a:defRPr/>
            </a:pPr>
            <a:endParaRPr lang="es-ES" sz="7200" dirty="0">
              <a:solidFill>
                <a:schemeClr val="tx1"/>
              </a:solidFill>
              <a:latin typeface="Arial" pitchFamily="34" charset="0"/>
              <a:cs typeface="Arial" pitchFamily="34" charset="0"/>
            </a:endParaRPr>
          </a:p>
        </p:txBody>
      </p:sp>
      <p:sp>
        <p:nvSpPr>
          <p:cNvPr id="10" name="2 Subtítulo"/>
          <p:cNvSpPr txBox="1">
            <a:spLocks/>
          </p:cNvSpPr>
          <p:nvPr/>
        </p:nvSpPr>
        <p:spPr>
          <a:xfrm>
            <a:off x="574675" y="765175"/>
            <a:ext cx="7993063" cy="5543550"/>
          </a:xfrm>
          <a:prstGeom prst="rect">
            <a:avLst/>
          </a:prstGeom>
        </p:spPr>
        <p:txBody>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ü"/>
              <a:defRPr/>
            </a:pPr>
            <a:endParaRPr lang="es-MX" sz="2000" dirty="0">
              <a:solidFill>
                <a:schemeClr val="tx1"/>
              </a:solidFill>
            </a:endParaRPr>
          </a:p>
          <a:p>
            <a:pPr marL="342900" indent="-342900" algn="just">
              <a:buFont typeface="Wingdings" panose="05000000000000000000" pitchFamily="2" charset="2"/>
              <a:buChar char="ü"/>
              <a:defRPr/>
            </a:pPr>
            <a:r>
              <a:rPr lang="es-MX" sz="2000" dirty="0">
                <a:solidFill>
                  <a:schemeClr val="tx1"/>
                </a:solidFill>
              </a:rPr>
              <a:t>Generar las relaciones que soportan las acciones que se realizan como métodos (relaciones y procesos), identificando los verbos.</a:t>
            </a:r>
          </a:p>
          <a:p>
            <a:pPr marL="342900" indent="-342900" algn="just">
              <a:buFont typeface="Wingdings" panose="05000000000000000000" pitchFamily="2" charset="2"/>
              <a:buChar char="ü"/>
              <a:defRPr/>
            </a:pPr>
            <a:r>
              <a:rPr lang="es-MX" sz="2000" dirty="0">
                <a:solidFill>
                  <a:schemeClr val="tx1"/>
                </a:solidFill>
              </a:rPr>
              <a:t>Generar las cardinalidades y claves.</a:t>
            </a:r>
          </a:p>
          <a:p>
            <a:pPr marL="342900" indent="-342900" algn="just">
              <a:buFont typeface="Wingdings" panose="05000000000000000000" pitchFamily="2" charset="2"/>
              <a:buChar char="ü"/>
              <a:defRPr/>
            </a:pPr>
            <a:r>
              <a:rPr lang="es-MX" sz="2000" dirty="0">
                <a:solidFill>
                  <a:schemeClr val="tx1"/>
                </a:solidFill>
              </a:rPr>
              <a:t>Verificar las dependencias funcionales. </a:t>
            </a:r>
          </a:p>
          <a:p>
            <a:pPr marL="342900" indent="-342900" algn="just">
              <a:buFont typeface="Wingdings" panose="05000000000000000000" pitchFamily="2" charset="2"/>
              <a:buChar char="ü"/>
              <a:defRPr/>
            </a:pPr>
            <a:r>
              <a:rPr lang="es-MX" sz="2000" dirty="0">
                <a:solidFill>
                  <a:schemeClr val="tx1"/>
                </a:solidFill>
              </a:rPr>
              <a:t>Realizar la Normalización.</a:t>
            </a:r>
          </a:p>
          <a:p>
            <a:pPr marL="342900" indent="-342900" algn="just">
              <a:buFont typeface="Wingdings" panose="05000000000000000000" pitchFamily="2" charset="2"/>
              <a:buChar char="ü"/>
              <a:defRPr/>
            </a:pPr>
            <a:r>
              <a:rPr lang="es-MX" sz="2000" dirty="0">
                <a:solidFill>
                  <a:schemeClr val="tx1"/>
                </a:solidFill>
              </a:rPr>
              <a:t>Transformar el Modelo Conceptual como Soporte del Modelo Relacional.</a:t>
            </a:r>
          </a:p>
          <a:p>
            <a:pPr marL="342900" indent="-342900" algn="just">
              <a:buFont typeface="Wingdings" panose="05000000000000000000" pitchFamily="2" charset="2"/>
              <a:buChar char="ü"/>
              <a:defRPr/>
            </a:pPr>
            <a:r>
              <a:rPr lang="es-MX" sz="2000" dirty="0">
                <a:solidFill>
                  <a:schemeClr val="tx1"/>
                </a:solidFill>
              </a:rPr>
              <a:t>Generar las relaciones que soportan las acciones que se realizan como métodos (relaciones y procesos), identificando los verbos.</a:t>
            </a:r>
          </a:p>
          <a:p>
            <a:pPr marL="342900" indent="-342900" algn="just">
              <a:buFont typeface="Wingdings" panose="05000000000000000000" pitchFamily="2" charset="2"/>
              <a:buChar char="ü"/>
              <a:defRPr/>
            </a:pPr>
            <a:r>
              <a:rPr lang="es-MX" sz="2000" dirty="0">
                <a:solidFill>
                  <a:schemeClr val="tx1"/>
                </a:solidFill>
              </a:rPr>
              <a:t>Generar las cardinalidades y claves.</a:t>
            </a:r>
          </a:p>
          <a:p>
            <a:pPr marL="342900" indent="-342900" algn="just">
              <a:buFont typeface="Wingdings" panose="05000000000000000000" pitchFamily="2" charset="2"/>
              <a:buChar char="ü"/>
              <a:defRPr/>
            </a:pPr>
            <a:r>
              <a:rPr lang="es-MX" sz="2000" dirty="0">
                <a:solidFill>
                  <a:schemeClr val="tx1"/>
                </a:solidFill>
              </a:rPr>
              <a:t>Verificar las dependencias funcionales. </a:t>
            </a:r>
          </a:p>
          <a:p>
            <a:pPr marL="342900" indent="-342900" algn="just">
              <a:buFont typeface="Wingdings" panose="05000000000000000000" pitchFamily="2" charset="2"/>
              <a:buChar char="ü"/>
              <a:defRPr/>
            </a:pPr>
            <a:r>
              <a:rPr lang="es-MX" sz="2000" dirty="0">
                <a:solidFill>
                  <a:schemeClr val="tx1"/>
                </a:solidFill>
              </a:rPr>
              <a:t>Realizar la Normalización.</a:t>
            </a:r>
          </a:p>
          <a:p>
            <a:pPr marL="342900" indent="-342900" algn="just">
              <a:buFont typeface="Wingdings" panose="05000000000000000000" pitchFamily="2" charset="2"/>
              <a:buChar char="ü"/>
              <a:defRPr/>
            </a:pPr>
            <a:r>
              <a:rPr lang="es-MX" sz="2000" dirty="0">
                <a:solidFill>
                  <a:schemeClr val="tx1"/>
                </a:solidFill>
              </a:rPr>
              <a:t>Transformar el Modelo Conceptual como Soporte del Modelo Relacional</a:t>
            </a:r>
          </a:p>
          <a:p>
            <a:pPr marL="342900" indent="-342900" algn="just">
              <a:buFont typeface="Wingdings" panose="05000000000000000000" pitchFamily="2" charset="2"/>
              <a:buChar char="ü"/>
              <a:defRPr/>
            </a:pPr>
            <a:endParaRPr lang="es-MX" sz="2000" dirty="0">
              <a:solidFill>
                <a:schemeClr val="tx1"/>
              </a:solidFill>
            </a:endParaRPr>
          </a:p>
          <a:p>
            <a:pPr algn="just">
              <a:defRPr/>
            </a:pPr>
            <a:endParaRPr lang="es-MX" sz="2000" dirty="0">
              <a:solidFill>
                <a:schemeClr val="tx1"/>
              </a:solidFill>
            </a:endParaRPr>
          </a:p>
          <a:p>
            <a:pPr algn="just">
              <a:defRPr/>
            </a:pPr>
            <a:endParaRPr lang="es-CO" sz="2000" dirty="0">
              <a:solidFill>
                <a:schemeClr val="tx1"/>
              </a:solidFill>
            </a:endParaRPr>
          </a:p>
        </p:txBody>
      </p:sp>
      <p:sp>
        <p:nvSpPr>
          <p:cNvPr id="12" name="2 Subtítulo"/>
          <p:cNvSpPr txBox="1">
            <a:spLocks/>
          </p:cNvSpPr>
          <p:nvPr/>
        </p:nvSpPr>
        <p:spPr bwMode="auto">
          <a:xfrm>
            <a:off x="612775" y="4714875"/>
            <a:ext cx="7993063"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latin typeface="Arial" panose="020B0604020202020204" pitchFamily="34" charset="0"/>
              <a:cs typeface="Arial" panose="020B0604020202020204" pitchFamily="34" charset="0"/>
            </a:endParaRPr>
          </a:p>
        </p:txBody>
      </p:sp>
      <p:sp>
        <p:nvSpPr>
          <p:cNvPr id="13" name="2 Subtítulo"/>
          <p:cNvSpPr txBox="1">
            <a:spLocks/>
          </p:cNvSpPr>
          <p:nvPr/>
        </p:nvSpPr>
        <p:spPr bwMode="auto">
          <a:xfrm>
            <a:off x="650875" y="4214813"/>
            <a:ext cx="7993063"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a:p>
            <a:pPr algn="just" eaLnBrk="1" hangingPunct="1">
              <a:buFont typeface="Arial" panose="020B0604020202020204" pitchFamily="34" charset="0"/>
              <a:buNone/>
            </a:pPr>
            <a:endParaRPr lang="es-ES" altLang="es-ES" sz="7200">
              <a:solidFill>
                <a:srgbClr val="00B05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plus(in)">
                                      <p:cBhvr>
                                        <p:cTn id="7" dur="20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amond(in)">
                                      <p:cBhvr>
                                        <p:cTn id="17" dur="20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amond(in)">
                                      <p:cBhvr>
                                        <p:cTn id="2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10" grpId="0"/>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ítulo 1"/>
          <p:cNvSpPr>
            <a:spLocks noGrp="1"/>
          </p:cNvSpPr>
          <p:nvPr>
            <p:ph type="title"/>
          </p:nvPr>
        </p:nvSpPr>
        <p:spPr>
          <a:xfrm>
            <a:off x="457200" y="115888"/>
            <a:ext cx="8229600" cy="576262"/>
          </a:xfrm>
        </p:spPr>
        <p:txBody>
          <a:bodyPr/>
          <a:lstStyle/>
          <a:p>
            <a:r>
              <a:rPr lang="es-MX" altLang="es-CO" sz="2000" b="1" smtClean="0">
                <a:solidFill>
                  <a:srgbClr val="FF0000"/>
                </a:solidFill>
                <a:latin typeface="Arial" panose="020B0604020202020204" pitchFamily="34" charset="0"/>
                <a:cs typeface="Arial" panose="020B0604020202020204" pitchFamily="34" charset="0"/>
              </a:rPr>
              <a:t>Metodología de Desarrollo de Aplicaciones - SCRUM  -</a:t>
            </a:r>
            <a:br>
              <a:rPr lang="es-MX" altLang="es-CO" sz="2000" b="1" smtClean="0">
                <a:solidFill>
                  <a:srgbClr val="FF0000"/>
                </a:solidFill>
                <a:latin typeface="Arial" panose="020B0604020202020204" pitchFamily="34" charset="0"/>
                <a:cs typeface="Arial" panose="020B0604020202020204" pitchFamily="34" charset="0"/>
              </a:rPr>
            </a:br>
            <a:r>
              <a:rPr lang="es-MX" altLang="es-CO" sz="2000" b="1" smtClean="0">
                <a:solidFill>
                  <a:srgbClr val="FF0000"/>
                </a:solidFill>
                <a:latin typeface="Arial" panose="020B0604020202020204" pitchFamily="34" charset="0"/>
                <a:cs typeface="Arial" panose="020B0604020202020204" pitchFamily="34" charset="0"/>
              </a:rPr>
              <a:t>Tipo Incremental</a:t>
            </a:r>
            <a:endParaRPr lang="es-CO" altLang="es-CO" sz="2000" smtClean="0"/>
          </a:p>
        </p:txBody>
      </p:sp>
      <p:sp>
        <p:nvSpPr>
          <p:cNvPr id="3" name="Marcador de contenido 2"/>
          <p:cNvSpPr>
            <a:spLocks noGrp="1"/>
          </p:cNvSpPr>
          <p:nvPr>
            <p:ph idx="1"/>
          </p:nvPr>
        </p:nvSpPr>
        <p:spPr>
          <a:xfrm>
            <a:off x="450850" y="1052513"/>
            <a:ext cx="8229600" cy="5329237"/>
          </a:xfrm>
        </p:spPr>
        <p:txBody>
          <a:bodyPr>
            <a:noAutofit/>
          </a:bodyPr>
          <a:lstStyle/>
          <a:p>
            <a:pPr marL="0" indent="0">
              <a:buFont typeface="Arial" panose="020B0604020202020204" pitchFamily="34" charset="0"/>
              <a:buNone/>
              <a:defRPr/>
            </a:pPr>
            <a:r>
              <a:rPr lang="es-MX" sz="2000" b="1" dirty="0">
                <a:solidFill>
                  <a:srgbClr val="24292F"/>
                </a:solidFill>
                <a:latin typeface="Arial" panose="020B0604020202020204" pitchFamily="34" charset="0"/>
                <a:cs typeface="Arial" panose="020B0604020202020204" pitchFamily="34" charset="0"/>
              </a:rPr>
              <a:t>     </a:t>
            </a:r>
            <a:r>
              <a:rPr lang="es-MX" sz="2000" b="1" i="1" dirty="0">
                <a:solidFill>
                  <a:srgbClr val="24292F"/>
                </a:solidFill>
                <a:latin typeface="Segoe UI" panose="020B0502040204020203" pitchFamily="34" charset="0"/>
                <a:cs typeface="Segoe UI" panose="020B0502040204020203" pitchFamily="34" charset="0"/>
              </a:rPr>
              <a:t>Etapas de desarrollo del Tipo Incremental.</a:t>
            </a:r>
          </a:p>
          <a:p>
            <a:pPr marL="0" indent="0">
              <a:buFont typeface="Arial" panose="020B0604020202020204" pitchFamily="34" charset="0"/>
              <a:buNone/>
              <a:defRPr/>
            </a:pPr>
            <a:endParaRPr lang="es-MX" sz="2000" b="1" dirty="0">
              <a:solidFill>
                <a:srgbClr val="24292F"/>
              </a:solidFill>
              <a:latin typeface="Arial" panose="020B0604020202020204" pitchFamily="34" charset="0"/>
              <a:cs typeface="Arial" panose="020B0604020202020204" pitchFamily="34" charset="0"/>
            </a:endParaRPr>
          </a:p>
          <a:p>
            <a:pPr>
              <a:buFont typeface="+mj-lt"/>
              <a:buAutoNum type="arabicPeriod"/>
              <a:defRPr/>
            </a:pPr>
            <a:r>
              <a:rPr lang="es-MX" sz="2000" b="1" i="1" dirty="0">
                <a:solidFill>
                  <a:srgbClr val="24292F"/>
                </a:solidFill>
                <a:latin typeface="Segoe UI" panose="020B0502040204020203" pitchFamily="34" charset="0"/>
                <a:cs typeface="Segoe UI" panose="020B0502040204020203" pitchFamily="34" charset="0"/>
              </a:rPr>
              <a:t>Recolección de Requerimientos: </a:t>
            </a:r>
            <a:r>
              <a:rPr lang="es-MX" sz="2000" dirty="0">
                <a:solidFill>
                  <a:srgbClr val="24292F"/>
                </a:solidFill>
                <a:latin typeface="Arial" panose="020B0604020202020204" pitchFamily="34" charset="0"/>
                <a:cs typeface="Arial" panose="020B0604020202020204" pitchFamily="34" charset="0"/>
              </a:rPr>
              <a:t>Identificar las necesidades y expectativas del usuario y del sistema.</a:t>
            </a:r>
          </a:p>
          <a:p>
            <a:pPr>
              <a:buFont typeface="+mj-lt"/>
              <a:buAutoNum type="arabicPeriod"/>
              <a:defRPr/>
            </a:pPr>
            <a:endParaRPr lang="es-MX" sz="2000" dirty="0">
              <a:solidFill>
                <a:srgbClr val="24292F"/>
              </a:solidFill>
              <a:latin typeface="Arial" panose="020B0604020202020204" pitchFamily="34" charset="0"/>
              <a:cs typeface="Arial" panose="020B0604020202020204" pitchFamily="34" charset="0"/>
            </a:endParaRPr>
          </a:p>
          <a:p>
            <a:pPr>
              <a:buFont typeface="+mj-lt"/>
              <a:buAutoNum type="arabicPeriod"/>
              <a:defRPr/>
            </a:pPr>
            <a:r>
              <a:rPr lang="es-MX" sz="2000" b="1" i="1" dirty="0">
                <a:solidFill>
                  <a:srgbClr val="24292F"/>
                </a:solidFill>
                <a:latin typeface="Segoe UI" panose="020B0502040204020203" pitchFamily="34" charset="0"/>
                <a:cs typeface="Segoe UI" panose="020B0502040204020203" pitchFamily="34" charset="0"/>
              </a:rPr>
              <a:t>Definición de las Tareas y las interacciones: </a:t>
            </a:r>
            <a:r>
              <a:rPr lang="es-MX" sz="2000" dirty="0">
                <a:solidFill>
                  <a:srgbClr val="24292F"/>
                </a:solidFill>
                <a:latin typeface="Arial" panose="020B0604020202020204" pitchFamily="34" charset="0"/>
                <a:cs typeface="Arial" panose="020B0604020202020204" pitchFamily="34" charset="0"/>
              </a:rPr>
              <a:t>Es  Analizar los requisitos para comprender su alcance y su viabilidad.</a:t>
            </a:r>
          </a:p>
          <a:p>
            <a:pPr>
              <a:buFont typeface="+mj-lt"/>
              <a:buAutoNum type="arabicPeriod"/>
              <a:defRPr/>
            </a:pPr>
            <a:endParaRPr lang="es-MX" sz="2000" dirty="0">
              <a:solidFill>
                <a:srgbClr val="24292F"/>
              </a:solidFill>
              <a:latin typeface="Arial" panose="020B0604020202020204" pitchFamily="34" charset="0"/>
              <a:cs typeface="Arial" panose="020B0604020202020204" pitchFamily="34" charset="0"/>
            </a:endParaRPr>
          </a:p>
          <a:p>
            <a:pPr>
              <a:buFont typeface="+mj-lt"/>
              <a:buAutoNum type="arabicPeriod"/>
              <a:defRPr/>
            </a:pPr>
            <a:r>
              <a:rPr lang="es-MX" sz="2000" b="1" i="1" dirty="0">
                <a:solidFill>
                  <a:srgbClr val="24292F"/>
                </a:solidFill>
                <a:latin typeface="Segoe UI" panose="020B0502040204020203" pitchFamily="34" charset="0"/>
                <a:cs typeface="Segoe UI" panose="020B0502040204020203" pitchFamily="34" charset="0"/>
              </a:rPr>
              <a:t>Diseño de los Incrementos</a:t>
            </a:r>
            <a:r>
              <a:rPr lang="es-MX" sz="2000" i="1" dirty="0">
                <a:solidFill>
                  <a:srgbClr val="24292F"/>
                </a:solidFill>
                <a:latin typeface="Segoe UI" panose="020B0502040204020203" pitchFamily="34" charset="0"/>
                <a:cs typeface="Segoe UI" panose="020B0502040204020203" pitchFamily="34" charset="0"/>
              </a:rPr>
              <a:t>: </a:t>
            </a:r>
            <a:r>
              <a:rPr lang="es-MX" sz="2000" dirty="0">
                <a:solidFill>
                  <a:srgbClr val="24292F"/>
                </a:solidFill>
                <a:latin typeface="Arial" panose="020B0604020202020204" pitchFamily="34" charset="0"/>
                <a:cs typeface="Arial" panose="020B0604020202020204" pitchFamily="34" charset="0"/>
              </a:rPr>
              <a:t>Crear un diseño detallado del sistema o contenido basado en los requisitos recopilados.</a:t>
            </a:r>
          </a:p>
          <a:p>
            <a:pPr>
              <a:buFont typeface="+mj-lt"/>
              <a:buAutoNum type="arabicPeriod"/>
              <a:defRPr/>
            </a:pPr>
            <a:endParaRPr lang="es-MX" sz="2000" dirty="0">
              <a:solidFill>
                <a:srgbClr val="24292F"/>
              </a:solidFill>
              <a:latin typeface="Arial" panose="020B0604020202020204" pitchFamily="34" charset="0"/>
              <a:cs typeface="Arial" panose="020B0604020202020204" pitchFamily="34" charset="0"/>
            </a:endParaRPr>
          </a:p>
          <a:p>
            <a:pPr>
              <a:buFont typeface="+mj-lt"/>
              <a:buAutoNum type="arabicPeriod"/>
              <a:defRPr/>
            </a:pPr>
            <a:r>
              <a:rPr lang="es-MX" sz="2000" b="1" i="1" dirty="0">
                <a:solidFill>
                  <a:srgbClr val="24292F"/>
                </a:solidFill>
                <a:latin typeface="Segoe UI" panose="020B0502040204020203" pitchFamily="34" charset="0"/>
                <a:cs typeface="Segoe UI" panose="020B0502040204020203" pitchFamily="34" charset="0"/>
              </a:rPr>
              <a:t>Implementación o desarrollo del Incremento</a:t>
            </a:r>
            <a:r>
              <a:rPr lang="es-MX" sz="2000" i="1" dirty="0">
                <a:solidFill>
                  <a:srgbClr val="24292F"/>
                </a:solidFill>
                <a:latin typeface="Segoe UI" panose="020B0502040204020203" pitchFamily="34" charset="0"/>
                <a:cs typeface="Segoe UI" panose="020B0502040204020203" pitchFamily="34" charset="0"/>
              </a:rPr>
              <a:t>: </a:t>
            </a:r>
            <a:r>
              <a:rPr lang="es-MX" sz="2000" dirty="0">
                <a:solidFill>
                  <a:srgbClr val="24292F"/>
                </a:solidFill>
                <a:latin typeface="Arial" panose="020B0604020202020204" pitchFamily="34" charset="0"/>
                <a:cs typeface="Arial" panose="020B0604020202020204" pitchFamily="34" charset="0"/>
              </a:rPr>
              <a:t>Desarrollar e implementar el contenido o las funcionalidades del sistema en pequeños incrementos.</a:t>
            </a:r>
          </a:p>
          <a:p>
            <a:pPr>
              <a:defRPr/>
            </a:pPr>
            <a:endParaRPr lang="es-MX" sz="2000" dirty="0">
              <a:solidFill>
                <a:srgbClr val="24292F"/>
              </a:solidFill>
              <a:latin typeface="Arial" panose="020B0604020202020204" pitchFamily="34" charset="0"/>
              <a:cs typeface="Arial" panose="020B0604020202020204" pitchFamily="34" charset="0"/>
            </a:endParaRPr>
          </a:p>
          <a:p>
            <a:pPr>
              <a:defRPr/>
            </a:pPr>
            <a:endParaRPr lang="es-CO" sz="16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ítulo 1"/>
          <p:cNvSpPr>
            <a:spLocks noGrp="1"/>
          </p:cNvSpPr>
          <p:nvPr>
            <p:ph type="title"/>
          </p:nvPr>
        </p:nvSpPr>
        <p:spPr>
          <a:xfrm>
            <a:off x="457200" y="115888"/>
            <a:ext cx="8229600" cy="720725"/>
          </a:xfrm>
        </p:spPr>
        <p:txBody>
          <a:bodyPr/>
          <a:lstStyle/>
          <a:p>
            <a:r>
              <a:rPr lang="es-MX" altLang="es-CO" sz="2000" b="1" smtClean="0">
                <a:solidFill>
                  <a:srgbClr val="FF0000"/>
                </a:solidFill>
                <a:latin typeface="Arial" panose="020B0604020202020204" pitchFamily="34" charset="0"/>
                <a:cs typeface="Arial" panose="020B0604020202020204" pitchFamily="34" charset="0"/>
              </a:rPr>
              <a:t>Metodología de Desarrollo de Aplicaciones - SCRUM  -</a:t>
            </a:r>
            <a:br>
              <a:rPr lang="es-MX" altLang="es-CO" sz="2000" b="1" smtClean="0">
                <a:solidFill>
                  <a:srgbClr val="FF0000"/>
                </a:solidFill>
                <a:latin typeface="Arial" panose="020B0604020202020204" pitchFamily="34" charset="0"/>
                <a:cs typeface="Arial" panose="020B0604020202020204" pitchFamily="34" charset="0"/>
              </a:rPr>
            </a:br>
            <a:r>
              <a:rPr lang="es-MX" altLang="es-CO" sz="2000" b="1" smtClean="0">
                <a:solidFill>
                  <a:srgbClr val="FF0000"/>
                </a:solidFill>
                <a:latin typeface="Arial" panose="020B0604020202020204" pitchFamily="34" charset="0"/>
                <a:cs typeface="Arial" panose="020B0604020202020204" pitchFamily="34" charset="0"/>
              </a:rPr>
              <a:t>Tipo Incremental</a:t>
            </a:r>
            <a:endParaRPr lang="es-CO" altLang="es-CO" sz="2000" smtClean="0"/>
          </a:p>
        </p:txBody>
      </p:sp>
      <p:sp>
        <p:nvSpPr>
          <p:cNvPr id="3" name="Marcador de contenido 2"/>
          <p:cNvSpPr>
            <a:spLocks noGrp="1"/>
          </p:cNvSpPr>
          <p:nvPr>
            <p:ph idx="1"/>
          </p:nvPr>
        </p:nvSpPr>
        <p:spPr>
          <a:xfrm>
            <a:off x="474663" y="908050"/>
            <a:ext cx="8229600" cy="5689600"/>
          </a:xfrm>
        </p:spPr>
        <p:txBody>
          <a:bodyPr>
            <a:noAutofit/>
          </a:bodyPr>
          <a:lstStyle/>
          <a:p>
            <a:pPr marL="0" indent="0">
              <a:buFont typeface="Arial" panose="020B0604020202020204" pitchFamily="34" charset="0"/>
              <a:buNone/>
              <a:defRPr/>
            </a:pPr>
            <a:endParaRPr lang="es-MX" sz="2000" b="1" dirty="0">
              <a:solidFill>
                <a:srgbClr val="24292F"/>
              </a:solidFill>
              <a:latin typeface="Arial" panose="020B0604020202020204" pitchFamily="34" charset="0"/>
              <a:cs typeface="Arial" panose="020B0604020202020204" pitchFamily="34" charset="0"/>
            </a:endParaRPr>
          </a:p>
          <a:p>
            <a:pPr marL="0" indent="0">
              <a:buFont typeface="Arial" panose="020B0604020202020204" pitchFamily="34" charset="0"/>
              <a:buNone/>
              <a:defRPr/>
            </a:pPr>
            <a:r>
              <a:rPr lang="es-MX" sz="2000" b="1" i="1" dirty="0">
                <a:solidFill>
                  <a:srgbClr val="24292F"/>
                </a:solidFill>
                <a:latin typeface="Segoe UI" panose="020B0502040204020203" pitchFamily="34" charset="0"/>
                <a:cs typeface="Segoe UI" panose="020B0502040204020203" pitchFamily="34" charset="0"/>
              </a:rPr>
              <a:t>5. Pruebas</a:t>
            </a:r>
            <a:r>
              <a:rPr lang="es-MX" sz="2000" i="1" dirty="0">
                <a:solidFill>
                  <a:srgbClr val="24292F"/>
                </a:solidFill>
                <a:latin typeface="Segoe UI" panose="020B0502040204020203" pitchFamily="34" charset="0"/>
                <a:cs typeface="Segoe UI" panose="020B0502040204020203" pitchFamily="34" charset="0"/>
              </a:rPr>
              <a:t>: </a:t>
            </a:r>
            <a:r>
              <a:rPr lang="es-MX" sz="2000" dirty="0">
                <a:solidFill>
                  <a:srgbClr val="24292F"/>
                </a:solidFill>
                <a:latin typeface="Arial" panose="020B0604020202020204" pitchFamily="34" charset="0"/>
                <a:cs typeface="Arial" panose="020B0604020202020204" pitchFamily="34" charset="0"/>
              </a:rPr>
              <a:t>Realizar pruebas exhaustivas en cada incremento para garantizar su funcionalidad y calidad, es validar cada incremento.</a:t>
            </a:r>
          </a:p>
          <a:p>
            <a:pPr marL="0" indent="0">
              <a:buFont typeface="Arial" panose="020B0604020202020204" pitchFamily="34" charset="0"/>
              <a:buNone/>
              <a:defRPr/>
            </a:pPr>
            <a:endParaRPr lang="es-MX" sz="2000" dirty="0">
              <a:solidFill>
                <a:srgbClr val="24292F"/>
              </a:solidFill>
              <a:latin typeface="Arial" panose="020B0604020202020204" pitchFamily="34" charset="0"/>
              <a:cs typeface="Arial" panose="020B0604020202020204" pitchFamily="34" charset="0"/>
            </a:endParaRPr>
          </a:p>
          <a:p>
            <a:pPr marL="0" indent="0">
              <a:buFont typeface="Arial" panose="020B0604020202020204" pitchFamily="34" charset="0"/>
              <a:buNone/>
              <a:defRPr/>
            </a:pPr>
            <a:r>
              <a:rPr lang="es-MX" sz="2000" b="1" i="1" dirty="0">
                <a:solidFill>
                  <a:srgbClr val="24292F"/>
                </a:solidFill>
                <a:latin typeface="Segoe UI" panose="020B0502040204020203" pitchFamily="34" charset="0"/>
                <a:cs typeface="Segoe UI" panose="020B0502040204020203" pitchFamily="34" charset="0"/>
              </a:rPr>
              <a:t>6. Evaluación y retroalimentación</a:t>
            </a:r>
            <a:r>
              <a:rPr lang="es-MX" sz="2000" i="1" dirty="0">
                <a:solidFill>
                  <a:srgbClr val="24292F"/>
                </a:solidFill>
                <a:latin typeface="Segoe UI" panose="020B0502040204020203" pitchFamily="34" charset="0"/>
                <a:cs typeface="Segoe UI" panose="020B0502040204020203" pitchFamily="34" charset="0"/>
              </a:rPr>
              <a:t>: </a:t>
            </a:r>
            <a:r>
              <a:rPr lang="es-MX" sz="2000" dirty="0">
                <a:solidFill>
                  <a:srgbClr val="24292F"/>
                </a:solidFill>
                <a:latin typeface="Arial" panose="020B0604020202020204" pitchFamily="34" charset="0"/>
                <a:cs typeface="Arial" panose="020B0604020202020204" pitchFamily="34" charset="0"/>
              </a:rPr>
              <a:t>Obtener retroalimentación de los usuarios o espectadores y evaluar el rendimiento del contenido o sistema.</a:t>
            </a:r>
          </a:p>
          <a:p>
            <a:pPr marL="0" indent="0">
              <a:buFont typeface="Arial" panose="020B0604020202020204" pitchFamily="34" charset="0"/>
              <a:buNone/>
              <a:defRPr/>
            </a:pPr>
            <a:endParaRPr lang="es-MX" sz="2000" dirty="0">
              <a:solidFill>
                <a:srgbClr val="24292F"/>
              </a:solidFill>
              <a:latin typeface="Arial" panose="020B0604020202020204" pitchFamily="34" charset="0"/>
              <a:cs typeface="Arial" panose="020B0604020202020204" pitchFamily="34" charset="0"/>
            </a:endParaRPr>
          </a:p>
          <a:p>
            <a:pPr marL="0" indent="0">
              <a:buFont typeface="Arial" panose="020B0604020202020204" pitchFamily="34" charset="0"/>
              <a:buNone/>
              <a:defRPr/>
            </a:pPr>
            <a:r>
              <a:rPr lang="es-MX" sz="2000" b="1" i="1" dirty="0">
                <a:solidFill>
                  <a:srgbClr val="24292F"/>
                </a:solidFill>
                <a:latin typeface="Segoe UI" panose="020B0502040204020203" pitchFamily="34" charset="0"/>
                <a:cs typeface="Segoe UI" panose="020B0502040204020203" pitchFamily="34" charset="0"/>
              </a:rPr>
              <a:t>7. Integración e iteración de los incrementos: </a:t>
            </a:r>
            <a:r>
              <a:rPr lang="es-MX" sz="2000" dirty="0">
                <a:solidFill>
                  <a:srgbClr val="24292F"/>
                </a:solidFill>
                <a:latin typeface="Arial" panose="020B0604020202020204" pitchFamily="34" charset="0"/>
                <a:cs typeface="Arial" panose="020B0604020202020204" pitchFamily="34" charset="0"/>
              </a:rPr>
              <a:t>Realizar ajustes y mejoras basados en la retroalimentación recibida.</a:t>
            </a:r>
          </a:p>
          <a:p>
            <a:pPr marL="0" indent="0">
              <a:buFont typeface="Arial" panose="020B0604020202020204" pitchFamily="34" charset="0"/>
              <a:buNone/>
              <a:defRPr/>
            </a:pPr>
            <a:endParaRPr lang="es-MX" sz="2000" dirty="0">
              <a:solidFill>
                <a:srgbClr val="24292F"/>
              </a:solidFill>
              <a:latin typeface="Arial" panose="020B0604020202020204" pitchFamily="34" charset="0"/>
              <a:cs typeface="Arial" panose="020B0604020202020204" pitchFamily="34" charset="0"/>
            </a:endParaRPr>
          </a:p>
          <a:p>
            <a:pPr marL="0" indent="0">
              <a:buFont typeface="Arial" panose="020B0604020202020204" pitchFamily="34" charset="0"/>
              <a:buNone/>
              <a:defRPr/>
            </a:pPr>
            <a:r>
              <a:rPr lang="es-MX" sz="2000" b="1" i="1" dirty="0">
                <a:solidFill>
                  <a:srgbClr val="24292F"/>
                </a:solidFill>
                <a:latin typeface="Segoe UI" panose="020B0502040204020203" pitchFamily="34" charset="0"/>
                <a:cs typeface="Segoe UI" panose="020B0502040204020203" pitchFamily="34" charset="0"/>
              </a:rPr>
              <a:t>8. Entrega y Liberación del producto: </a:t>
            </a:r>
            <a:r>
              <a:rPr lang="es-MX" sz="2000" dirty="0">
                <a:solidFill>
                  <a:srgbClr val="24292F"/>
                </a:solidFill>
                <a:latin typeface="Arial" panose="020B0604020202020204" pitchFamily="34" charset="0"/>
                <a:cs typeface="Arial" panose="020B0604020202020204" pitchFamily="34" charset="0"/>
              </a:rPr>
              <a:t>Publicar el contenido o sistema mejorado y listo para su uso.</a:t>
            </a:r>
          </a:p>
          <a:p>
            <a:pPr marL="0" indent="0">
              <a:buFont typeface="Arial" panose="020B0604020202020204" pitchFamily="34" charset="0"/>
              <a:buNone/>
              <a:defRPr/>
            </a:pPr>
            <a:endParaRPr lang="es-MX" sz="2000" dirty="0">
              <a:solidFill>
                <a:srgbClr val="24292F"/>
              </a:solidFill>
              <a:latin typeface="Arial" panose="020B0604020202020204" pitchFamily="34" charset="0"/>
              <a:cs typeface="Arial" panose="020B0604020202020204" pitchFamily="34" charset="0"/>
            </a:endParaRPr>
          </a:p>
          <a:p>
            <a:pPr>
              <a:defRPr/>
            </a:pPr>
            <a:r>
              <a:rPr lang="es-MX" sz="2000" dirty="0">
                <a:solidFill>
                  <a:srgbClr val="24292F"/>
                </a:solidFill>
                <a:latin typeface="Arial" panose="020B0604020202020204" pitchFamily="34" charset="0"/>
                <a:cs typeface="Arial" panose="020B0604020202020204" pitchFamily="34" charset="0"/>
              </a:rPr>
              <a:t>Este enfoque permite una evolución gradual y continua, lo que facilita la adaptación a cambios y la mejora continua.</a:t>
            </a:r>
          </a:p>
          <a:p>
            <a:pPr>
              <a:defRPr/>
            </a:pPr>
            <a:endParaRPr lang="es-MX" sz="2000" dirty="0">
              <a:solidFill>
                <a:srgbClr val="24292F"/>
              </a:solidFill>
              <a:latin typeface="Arial" panose="020B0604020202020204" pitchFamily="34" charset="0"/>
              <a:cs typeface="Arial" panose="020B0604020202020204" pitchFamily="34" charset="0"/>
            </a:endParaRPr>
          </a:p>
          <a:p>
            <a:pPr>
              <a:defRPr/>
            </a:pPr>
            <a:endParaRPr lang="es-CO" sz="160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ítulo 1"/>
          <p:cNvSpPr>
            <a:spLocks noGrp="1"/>
          </p:cNvSpPr>
          <p:nvPr>
            <p:ph type="title"/>
          </p:nvPr>
        </p:nvSpPr>
        <p:spPr>
          <a:xfrm>
            <a:off x="457200" y="115888"/>
            <a:ext cx="8229600" cy="720725"/>
          </a:xfrm>
        </p:spPr>
        <p:txBody>
          <a:bodyPr/>
          <a:lstStyle/>
          <a:p>
            <a:r>
              <a:rPr lang="es-MX" altLang="es-CO" sz="2000" b="1" smtClean="0">
                <a:solidFill>
                  <a:srgbClr val="FF0000"/>
                </a:solidFill>
                <a:latin typeface="Arial" panose="020B0604020202020204" pitchFamily="34" charset="0"/>
                <a:cs typeface="Arial" panose="020B0604020202020204" pitchFamily="34" charset="0"/>
              </a:rPr>
              <a:t>Fases de la Metodología de Desarrollo de Aplicaciones Scrum</a:t>
            </a:r>
            <a:endParaRPr lang="es-CO" altLang="es-CO" sz="2000" b="1" smtClean="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476250" y="836613"/>
            <a:ext cx="8229600" cy="6021387"/>
          </a:xfrm>
        </p:spPr>
        <p:txBody>
          <a:bodyPr>
            <a:noAutofit/>
          </a:bodyPr>
          <a:lstStyle/>
          <a:p>
            <a:pPr>
              <a:defRPr/>
            </a:pPr>
            <a:r>
              <a:rPr lang="es-MX" sz="2000" b="1" i="1" dirty="0">
                <a:latin typeface="Segoe UI" panose="020B0502040204020203" pitchFamily="34" charset="0"/>
                <a:cs typeface="Segoe UI" panose="020B0502040204020203" pitchFamily="34" charset="0"/>
              </a:rPr>
              <a:t>SCRUM : </a:t>
            </a:r>
            <a:r>
              <a:rPr lang="es-MX" sz="2000" i="1" dirty="0">
                <a:latin typeface="Segoe UI" panose="020B0502040204020203" pitchFamily="34" charset="0"/>
                <a:cs typeface="Segoe UI" panose="020B0502040204020203" pitchFamily="34" charset="0"/>
              </a:rPr>
              <a:t>S</a:t>
            </a:r>
            <a:r>
              <a:rPr lang="es-MX" sz="1800" dirty="0">
                <a:latin typeface="Arial" panose="020B0604020202020204" pitchFamily="34" charset="0"/>
                <a:cs typeface="Arial" panose="020B0604020202020204" pitchFamily="34" charset="0"/>
              </a:rPr>
              <a:t>e compone de varias fases que se repiten de forma iterativa e incremental a lo largo del ciclo de vida del proyecto. Las principales fases de esta metodología Scrum son:</a:t>
            </a:r>
          </a:p>
          <a:p>
            <a:pPr>
              <a:defRPr/>
            </a:pPr>
            <a:endParaRPr lang="es-MX" sz="1800" dirty="0"/>
          </a:p>
          <a:p>
            <a:pPr>
              <a:defRPr/>
            </a:pPr>
            <a:r>
              <a:rPr lang="es-MX" sz="1800" b="1" i="1" dirty="0">
                <a:latin typeface="Segoe UI" panose="020B0502040204020203" pitchFamily="34" charset="0"/>
                <a:cs typeface="Segoe UI" panose="020B0502040204020203" pitchFamily="34" charset="0"/>
              </a:rPr>
              <a:t>Planificación del Sprint (Sprint </a:t>
            </a:r>
            <a:r>
              <a:rPr lang="es-MX" sz="1800" b="1" i="1" dirty="0" err="1">
                <a:latin typeface="Segoe UI" panose="020B0502040204020203" pitchFamily="34" charset="0"/>
                <a:cs typeface="Segoe UI" panose="020B0502040204020203" pitchFamily="34" charset="0"/>
              </a:rPr>
              <a:t>Planning</a:t>
            </a:r>
            <a:r>
              <a:rPr lang="es-MX" sz="1800" b="1" i="1" dirty="0">
                <a:latin typeface="Segoe UI" panose="020B0502040204020203" pitchFamily="34" charset="0"/>
                <a:cs typeface="Segoe UI" panose="020B0502040204020203" pitchFamily="34" charset="0"/>
              </a:rPr>
              <a:t>): </a:t>
            </a:r>
          </a:p>
          <a:p>
            <a:pPr indent="20638" algn="just">
              <a:buFont typeface="Arial" panose="020B0604020202020204" pitchFamily="34" charset="0"/>
              <a:buNone/>
              <a:defRPr/>
            </a:pPr>
            <a:r>
              <a:rPr lang="es-MX" sz="1800" dirty="0">
                <a:latin typeface="Arial" panose="020B0604020202020204" pitchFamily="34" charset="0"/>
                <a:cs typeface="Arial" panose="020B0604020202020204" pitchFamily="34" charset="0"/>
              </a:rPr>
              <a:t>En esta fase, el equipo Scrum se reúne para planificar el próximo Sprint, que es un </a:t>
            </a:r>
            <a:r>
              <a:rPr lang="es-MX" sz="1800" b="1" dirty="0">
                <a:latin typeface="Arial" panose="020B0604020202020204" pitchFamily="34" charset="0"/>
                <a:cs typeface="Arial" panose="020B0604020202020204" pitchFamily="34" charset="0"/>
              </a:rPr>
              <a:t>período de tiempo </a:t>
            </a:r>
            <a:r>
              <a:rPr lang="es-MX" sz="1800" dirty="0">
                <a:latin typeface="Arial" panose="020B0604020202020204" pitchFamily="34" charset="0"/>
                <a:cs typeface="Arial" panose="020B0604020202020204" pitchFamily="34" charset="0"/>
              </a:rPr>
              <a:t>corto y fijo (generalmente de 2 a 4 semanas) en el que se desarrollará un conjunto de funcionalidades prioritarias del producto. Durante la planificación del Sprint, se seleccionan las historias de usuario (requerimientos) que se incluirán en el Sprint Backlog y se define cómo se implementarán (desarrollo).</a:t>
            </a:r>
          </a:p>
          <a:p>
            <a:pPr indent="20638">
              <a:defRPr/>
            </a:pPr>
            <a:endParaRPr lang="es-MX" sz="1800" dirty="0"/>
          </a:p>
          <a:p>
            <a:pPr>
              <a:defRPr/>
            </a:pPr>
            <a:r>
              <a:rPr lang="es-MX" sz="1800" b="1" i="1" dirty="0">
                <a:latin typeface="Segoe UI" panose="020B0502040204020203" pitchFamily="34" charset="0"/>
                <a:cs typeface="Segoe UI" panose="020B0502040204020203" pitchFamily="34" charset="0"/>
              </a:rPr>
              <a:t>Desarrollo del Sprint (Sprint </a:t>
            </a:r>
            <a:r>
              <a:rPr lang="es-MX" sz="1800" b="1" i="1" dirty="0" err="1">
                <a:latin typeface="Segoe UI" panose="020B0502040204020203" pitchFamily="34" charset="0"/>
                <a:cs typeface="Segoe UI" panose="020B0502040204020203" pitchFamily="34" charset="0"/>
              </a:rPr>
              <a:t>Development</a:t>
            </a:r>
            <a:r>
              <a:rPr lang="es-MX" sz="1800" b="1" i="1" dirty="0">
                <a:latin typeface="Segoe UI" panose="020B0502040204020203" pitchFamily="34" charset="0"/>
                <a:cs typeface="Segoe UI" panose="020B0502040204020203" pitchFamily="34" charset="0"/>
              </a:rPr>
              <a:t>): </a:t>
            </a:r>
          </a:p>
          <a:p>
            <a:pPr marL="363538" indent="0" algn="just">
              <a:buFont typeface="Arial" panose="020B0604020202020204" pitchFamily="34" charset="0"/>
              <a:buNone/>
              <a:defRPr/>
            </a:pPr>
            <a:r>
              <a:rPr lang="es-MX" sz="1800" dirty="0">
                <a:latin typeface="Arial" panose="020B0604020202020204" pitchFamily="34" charset="0"/>
                <a:cs typeface="Arial" panose="020B0604020202020204" pitchFamily="34" charset="0"/>
              </a:rPr>
              <a:t>Durante esta fase, el equipo trabaja en la implementación de las historias de usuario (requerimientos) seleccionadas para el Sprint. El trabajo se divide en tareas más pequeñas que se completan en incrementos diarios llamados "</a:t>
            </a:r>
            <a:r>
              <a:rPr lang="es-MX" sz="1800" dirty="0" err="1">
                <a:latin typeface="Arial" panose="020B0604020202020204" pitchFamily="34" charset="0"/>
                <a:cs typeface="Arial" panose="020B0604020202020204" pitchFamily="34" charset="0"/>
              </a:rPr>
              <a:t>Daily</a:t>
            </a:r>
            <a:r>
              <a:rPr lang="es-MX" sz="1800" dirty="0">
                <a:latin typeface="Arial" panose="020B0604020202020204" pitchFamily="34" charset="0"/>
                <a:cs typeface="Arial" panose="020B0604020202020204" pitchFamily="34" charset="0"/>
              </a:rPr>
              <a:t> Scrums" o "Stand-up Meetings". El objetivo es entregar un incremento de producto potencialmente entregable al final de cada Sprint</a:t>
            </a:r>
            <a:r>
              <a:rPr lang="es-MX" sz="1800" dirty="0"/>
              <a:t>.</a:t>
            </a:r>
          </a:p>
          <a:p>
            <a:pPr>
              <a:defRPr/>
            </a:pPr>
            <a:endParaRPr lang="es-MX"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
          <p:cNvSpPr>
            <a:spLocks noGrp="1"/>
          </p:cNvSpPr>
          <p:nvPr>
            <p:ph type="title"/>
          </p:nvPr>
        </p:nvSpPr>
        <p:spPr>
          <a:xfrm>
            <a:off x="457200" y="274638"/>
            <a:ext cx="8229600" cy="633412"/>
          </a:xfrm>
        </p:spPr>
        <p:txBody>
          <a:bodyPr/>
          <a:lstStyle/>
          <a:p>
            <a:r>
              <a:rPr lang="es-MX" altLang="es-CO" sz="2000" b="1" smtClean="0">
                <a:solidFill>
                  <a:srgbClr val="FF0000"/>
                </a:solidFill>
                <a:latin typeface="Arial" panose="020B0604020202020204" pitchFamily="34" charset="0"/>
                <a:cs typeface="Arial" panose="020B0604020202020204" pitchFamily="34" charset="0"/>
              </a:rPr>
              <a:t>Fases de la Metodología de Desarrollo de Aplicaciones Scrum</a:t>
            </a:r>
            <a:endParaRPr lang="es-CO" altLang="es-CO" sz="2000" b="1" smtClean="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468313" y="1052513"/>
            <a:ext cx="8229600" cy="5675312"/>
          </a:xfrm>
        </p:spPr>
        <p:txBody>
          <a:bodyPr>
            <a:normAutofit fontScale="92500"/>
          </a:bodyPr>
          <a:lstStyle/>
          <a:p>
            <a:pPr algn="just">
              <a:defRPr/>
            </a:pPr>
            <a:r>
              <a:rPr lang="es-MX" sz="1900" b="1" dirty="0">
                <a:latin typeface="Arial" panose="020B0604020202020204" pitchFamily="34" charset="0"/>
                <a:cs typeface="Arial" panose="020B0604020202020204" pitchFamily="34" charset="0"/>
              </a:rPr>
              <a:t>Revisión del Sprint (Sprint </a:t>
            </a:r>
            <a:r>
              <a:rPr lang="es-MX" sz="1900" b="1" dirty="0" err="1">
                <a:latin typeface="Arial" panose="020B0604020202020204" pitchFamily="34" charset="0"/>
                <a:cs typeface="Arial" panose="020B0604020202020204" pitchFamily="34" charset="0"/>
              </a:rPr>
              <a:t>Review</a:t>
            </a:r>
            <a:r>
              <a:rPr lang="es-MX" sz="1900" b="1" dirty="0">
                <a:latin typeface="Arial" panose="020B0604020202020204" pitchFamily="34" charset="0"/>
                <a:cs typeface="Arial" panose="020B0604020202020204" pitchFamily="34" charset="0"/>
              </a:rPr>
              <a:t>): </a:t>
            </a:r>
          </a:p>
          <a:p>
            <a:pPr algn="just">
              <a:defRPr/>
            </a:pPr>
            <a:r>
              <a:rPr lang="es-MX" sz="1900" dirty="0">
                <a:latin typeface="Arial" panose="020B0604020202020204" pitchFamily="34" charset="0"/>
                <a:cs typeface="Arial" panose="020B0604020202020204" pitchFamily="34" charset="0"/>
              </a:rPr>
              <a:t>Al finalizar el Sprint, se lleva a cabo una reunión de revisión en la que el equipo Scrum demuestra el incremento de producto completo al Dueño del Producto (Product Owner) y a otras partes interesadas (</a:t>
            </a:r>
            <a:r>
              <a:rPr lang="es-MX" sz="1900" dirty="0" err="1">
                <a:latin typeface="Arial" panose="020B0604020202020204" pitchFamily="34" charset="0"/>
                <a:cs typeface="Arial" panose="020B0604020202020204" pitchFamily="34" charset="0"/>
              </a:rPr>
              <a:t>stakeholders</a:t>
            </a:r>
            <a:r>
              <a:rPr lang="es-MX" sz="1900" dirty="0">
                <a:latin typeface="Arial" panose="020B0604020202020204" pitchFamily="34" charset="0"/>
                <a:cs typeface="Arial" panose="020B0604020202020204" pitchFamily="34" charset="0"/>
              </a:rPr>
              <a:t>). Durante esta reunión, se recopila la retroalimentación o comentarios  (</a:t>
            </a:r>
            <a:r>
              <a:rPr lang="es-MX" sz="1900" dirty="0" err="1">
                <a:latin typeface="Arial" panose="020B0604020202020204" pitchFamily="34" charset="0"/>
                <a:cs typeface="Arial" panose="020B0604020202020204" pitchFamily="34" charset="0"/>
              </a:rPr>
              <a:t>feedback</a:t>
            </a:r>
            <a:r>
              <a:rPr lang="es-MX" sz="1900" dirty="0">
                <a:latin typeface="Arial" panose="020B0604020202020204" pitchFamily="34" charset="0"/>
                <a:cs typeface="Arial" panose="020B0604020202020204" pitchFamily="34" charset="0"/>
              </a:rPr>
              <a:t>) y se discuten posibles ajustes en el plan del producto.</a:t>
            </a:r>
          </a:p>
          <a:p>
            <a:pPr algn="just">
              <a:defRPr/>
            </a:pPr>
            <a:endParaRPr lang="es-MX" sz="1900" dirty="0">
              <a:latin typeface="Arial" panose="020B0604020202020204" pitchFamily="34" charset="0"/>
              <a:cs typeface="Arial" panose="020B0604020202020204" pitchFamily="34" charset="0"/>
            </a:endParaRPr>
          </a:p>
          <a:p>
            <a:pPr algn="just">
              <a:defRPr/>
            </a:pPr>
            <a:r>
              <a:rPr lang="es-MX" sz="1900" b="1" i="1" dirty="0">
                <a:latin typeface="Segoe UI" panose="020B0502040204020203" pitchFamily="34" charset="0"/>
                <a:cs typeface="Segoe UI" panose="020B0502040204020203" pitchFamily="34" charset="0"/>
              </a:rPr>
              <a:t>Retrospectiva del Sprint (Sprint Retrospective): </a:t>
            </a:r>
            <a:r>
              <a:rPr lang="es-MX" sz="1900" dirty="0">
                <a:latin typeface="Arial" panose="020B0604020202020204" pitchFamily="34" charset="0"/>
                <a:cs typeface="Arial" panose="020B0604020202020204" pitchFamily="34" charset="0"/>
              </a:rPr>
              <a:t>Después de la revisión del Sprint, el equipo Scrum realiza una retrospectiva para analizar qué funcionó bien durante el Sprint y qué áreas pueden mejorarse. Se identifican y priorizan acciones de mejora que se implementarán en el próximo Sprint.</a:t>
            </a:r>
          </a:p>
          <a:p>
            <a:pPr algn="just">
              <a:defRPr/>
            </a:pPr>
            <a:endParaRPr lang="es-MX" sz="1800" dirty="0">
              <a:latin typeface="Arial" panose="020B0604020202020204" pitchFamily="34" charset="0"/>
              <a:cs typeface="Arial" panose="020B0604020202020204" pitchFamily="34" charset="0"/>
            </a:endParaRPr>
          </a:p>
          <a:p>
            <a:pPr algn="just">
              <a:defRPr/>
            </a:pPr>
            <a:r>
              <a:rPr lang="es-MX" sz="1900" dirty="0">
                <a:latin typeface="Arial" panose="020B0604020202020204" pitchFamily="34" charset="0"/>
                <a:cs typeface="Arial" panose="020B0604020202020204" pitchFamily="34" charset="0"/>
              </a:rPr>
              <a:t>Estas fases se repiten en cada Sprint, lo que permite un ciclo de desarrollo iterativo e incremental que promueve la transparencia, la inspección y la adaptación continua. Además de estas fases principales, Scrum también incluye eventos como reuniones diarias cortas para sincronizar el trabajo del equipo y artefactos como el Product Backlog o pila del producto (lista priorizada de requisitos del producto) y el Sprint Backlog o trabajos pendientes (lista de tareas que se abordarán durante el Sprint actual).</a:t>
            </a:r>
            <a:endParaRPr lang="es-CO" sz="1900" dirty="0">
              <a:latin typeface="Arial" panose="020B0604020202020204" pitchFamily="34" charset="0"/>
              <a:cs typeface="Arial" panose="020B0604020202020204" pitchFamily="34" charset="0"/>
            </a:endParaRPr>
          </a:p>
          <a:p>
            <a:pPr>
              <a:defRPr/>
            </a:pPr>
            <a:endParaRPr lang="es-CO"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ítulo 1"/>
          <p:cNvSpPr>
            <a:spLocks noGrp="1"/>
          </p:cNvSpPr>
          <p:nvPr>
            <p:ph type="title"/>
          </p:nvPr>
        </p:nvSpPr>
        <p:spPr>
          <a:xfrm>
            <a:off x="457200" y="-20638"/>
            <a:ext cx="8229600" cy="457201"/>
          </a:xfrm>
        </p:spPr>
        <p:txBody>
          <a:bodyPr/>
          <a:lstStyle/>
          <a:p>
            <a:r>
              <a:rPr lang="es-MX" altLang="es-CO" sz="2000" b="1" smtClean="0">
                <a:solidFill>
                  <a:srgbClr val="FF0000"/>
                </a:solidFill>
                <a:latin typeface="Arial" panose="020B0604020202020204" pitchFamily="34" charset="0"/>
                <a:cs typeface="Arial" panose="020B0604020202020204" pitchFamily="34" charset="0"/>
              </a:rPr>
              <a:t>Aspectos Principales de la Metodología SCRUM</a:t>
            </a:r>
            <a:endParaRPr lang="es-CO" altLang="es-CO" sz="2000" b="1" smtClean="0">
              <a:solidFill>
                <a:srgbClr val="FF0000"/>
              </a:solidFill>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457200" y="534988"/>
            <a:ext cx="8229600" cy="6337300"/>
          </a:xfrm>
        </p:spPr>
        <p:txBody>
          <a:bodyPr>
            <a:normAutofit fontScale="25000" lnSpcReduction="20000"/>
          </a:bodyPr>
          <a:lstStyle/>
          <a:p>
            <a:pPr>
              <a:defRPr/>
            </a:pPr>
            <a:r>
              <a:rPr lang="es-MX" sz="8000" b="1" i="1" dirty="0">
                <a:solidFill>
                  <a:srgbClr val="0D0D0D"/>
                </a:solidFill>
                <a:latin typeface="Segoe UI" panose="020B0502040204020203" pitchFamily="34" charset="0"/>
                <a:cs typeface="Segoe UI" panose="020B0502040204020203" pitchFamily="34" charset="0"/>
              </a:rPr>
              <a:t>Resumen de los principales aspectos de la metodología Scrum:</a:t>
            </a:r>
          </a:p>
          <a:p>
            <a:pPr>
              <a:buFont typeface="+mj-lt"/>
              <a:buAutoNum type="arabicPeriod"/>
              <a:defRPr/>
            </a:pPr>
            <a:r>
              <a:rPr lang="es-MX" sz="8000" b="1" i="1" dirty="0">
                <a:solidFill>
                  <a:srgbClr val="0D0D0D"/>
                </a:solidFill>
                <a:latin typeface="Segoe UI" panose="020B0502040204020203" pitchFamily="34" charset="0"/>
                <a:cs typeface="Segoe UI" panose="020B0502040204020203" pitchFamily="34" charset="0"/>
              </a:rPr>
              <a:t>Roles:</a:t>
            </a: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Product Owner:</a:t>
            </a:r>
            <a:r>
              <a:rPr lang="es-MX" sz="7200" dirty="0">
                <a:solidFill>
                  <a:srgbClr val="0D0D0D"/>
                </a:solidFill>
                <a:latin typeface="Arial" panose="020B0604020202020204" pitchFamily="34" charset="0"/>
                <a:cs typeface="Arial" panose="020B0604020202020204" pitchFamily="34" charset="0"/>
              </a:rPr>
              <a:t> Representa los intereses del cliente y define los requisitos del producto.</a:t>
            </a: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Scrum Master:</a:t>
            </a:r>
            <a:r>
              <a:rPr lang="es-MX" sz="7200" dirty="0">
                <a:solidFill>
                  <a:srgbClr val="0D0D0D"/>
                </a:solidFill>
                <a:latin typeface="Arial" panose="020B0604020202020204" pitchFamily="34" charset="0"/>
                <a:cs typeface="Arial" panose="020B0604020202020204" pitchFamily="34" charset="0"/>
              </a:rPr>
              <a:t> Facilita el proceso Scrum, elimina obstáculos y asegura que el equipo siga las prácticas y valores de Scrum.</a:t>
            </a: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Equipo de Desarrollo:</a:t>
            </a:r>
            <a:r>
              <a:rPr lang="es-MX" sz="7200" dirty="0">
                <a:solidFill>
                  <a:srgbClr val="0D0D0D"/>
                </a:solidFill>
                <a:latin typeface="Arial" panose="020B0604020202020204" pitchFamily="34" charset="0"/>
                <a:cs typeface="Arial" panose="020B0604020202020204" pitchFamily="34" charset="0"/>
              </a:rPr>
              <a:t> Responsable de entregar las funcionalidades del producto al final de cada sprint.</a:t>
            </a:r>
          </a:p>
          <a:p>
            <a:pPr marL="457200" lvl="1" indent="0" algn="just">
              <a:buFont typeface="Arial" panose="020B0604020202020204" pitchFamily="34" charset="0"/>
              <a:buNone/>
              <a:defRPr/>
            </a:pPr>
            <a:endParaRPr lang="es-MX" sz="7200" dirty="0">
              <a:solidFill>
                <a:srgbClr val="0D0D0D"/>
              </a:solidFill>
              <a:latin typeface="Arial" panose="020B0604020202020204" pitchFamily="34" charset="0"/>
              <a:cs typeface="Arial" panose="020B0604020202020204" pitchFamily="34" charset="0"/>
            </a:endParaRPr>
          </a:p>
          <a:p>
            <a:pPr>
              <a:buFont typeface="+mj-lt"/>
              <a:buAutoNum type="arabicPeriod"/>
              <a:defRPr/>
            </a:pPr>
            <a:r>
              <a:rPr lang="es-MX" sz="7200" b="1" i="1" dirty="0">
                <a:solidFill>
                  <a:srgbClr val="0D0D0D"/>
                </a:solidFill>
                <a:latin typeface="Segoe UI" panose="020B0502040204020203" pitchFamily="34" charset="0"/>
                <a:cs typeface="Segoe UI" panose="020B0502040204020203" pitchFamily="34" charset="0"/>
              </a:rPr>
              <a:t>Artefactos:</a:t>
            </a: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Product Backlog:</a:t>
            </a:r>
            <a:r>
              <a:rPr lang="es-MX" sz="7200" dirty="0">
                <a:solidFill>
                  <a:srgbClr val="0D0D0D"/>
                </a:solidFill>
                <a:latin typeface="Arial" panose="020B0604020202020204" pitchFamily="34" charset="0"/>
                <a:cs typeface="Arial" panose="020B0604020202020204" pitchFamily="34" charset="0"/>
              </a:rPr>
              <a:t> Lista priorizada de todas las funcionalidades, mejoras y correcciones que se desean implementar en el producto.</a:t>
            </a: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Sprint Backlog:</a:t>
            </a:r>
            <a:r>
              <a:rPr lang="es-MX" sz="7200" dirty="0">
                <a:solidFill>
                  <a:srgbClr val="0D0D0D"/>
                </a:solidFill>
                <a:latin typeface="Arial" panose="020B0604020202020204" pitchFamily="34" charset="0"/>
                <a:cs typeface="Arial" panose="020B0604020202020204" pitchFamily="34" charset="0"/>
              </a:rPr>
              <a:t> Lista de tareas seleccionadas del Product Backlog que el equipo se compromete a completar durante el sprint.</a:t>
            </a: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Incremento:</a:t>
            </a:r>
            <a:r>
              <a:rPr lang="es-MX" sz="7200" dirty="0">
                <a:solidFill>
                  <a:srgbClr val="0D0D0D"/>
                </a:solidFill>
                <a:latin typeface="Arial" panose="020B0604020202020204" pitchFamily="34" charset="0"/>
                <a:cs typeface="Arial" panose="020B0604020202020204" pitchFamily="34" charset="0"/>
              </a:rPr>
              <a:t> Versión potencialmente entregable del producto que resulta de la implementación de las funcionalidades seleccionadas en el Sprint Backlog.</a:t>
            </a:r>
          </a:p>
          <a:p>
            <a:pPr lvl="1">
              <a:buFont typeface="+mj-lt"/>
              <a:buAutoNum type="arabicPeriod"/>
              <a:defRPr/>
            </a:pPr>
            <a:endParaRPr lang="es-MX" sz="7200" i="1" dirty="0">
              <a:solidFill>
                <a:srgbClr val="0D0D0D"/>
              </a:solidFill>
              <a:latin typeface="Segoe UI" panose="020B0502040204020203" pitchFamily="34" charset="0"/>
              <a:cs typeface="Segoe UI" panose="020B0502040204020203" pitchFamily="34" charset="0"/>
            </a:endParaRPr>
          </a:p>
          <a:p>
            <a:pPr marL="0" indent="0">
              <a:buFont typeface="Arial" panose="020B0604020202020204" pitchFamily="34" charset="0"/>
              <a:buNone/>
              <a:defRPr/>
            </a:pPr>
            <a:r>
              <a:rPr lang="es-MX" sz="7200" b="1" i="1" dirty="0">
                <a:solidFill>
                  <a:srgbClr val="0D0D0D"/>
                </a:solidFill>
                <a:latin typeface="Segoe UI" panose="020B0502040204020203" pitchFamily="34" charset="0"/>
                <a:cs typeface="Segoe UI" panose="020B0502040204020203" pitchFamily="34" charset="0"/>
              </a:rPr>
              <a:t>3. Eventos:</a:t>
            </a:r>
            <a:endParaRPr lang="es-MX" sz="7200" i="1" dirty="0">
              <a:solidFill>
                <a:srgbClr val="0D0D0D"/>
              </a:solidFill>
              <a:latin typeface="Segoe UI" panose="020B0502040204020203" pitchFamily="34" charset="0"/>
              <a:cs typeface="Segoe UI" panose="020B0502040204020203" pitchFamily="34" charset="0"/>
            </a:endParaRP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Sprint </a:t>
            </a:r>
            <a:r>
              <a:rPr lang="es-MX" sz="7200" b="1" dirty="0" err="1">
                <a:solidFill>
                  <a:srgbClr val="0D0D0D"/>
                </a:solidFill>
                <a:latin typeface="Arial" panose="020B0604020202020204" pitchFamily="34" charset="0"/>
                <a:cs typeface="Arial" panose="020B0604020202020204" pitchFamily="34" charset="0"/>
              </a:rPr>
              <a:t>Planning</a:t>
            </a:r>
            <a:r>
              <a:rPr lang="es-MX" sz="7200" b="1" dirty="0">
                <a:solidFill>
                  <a:srgbClr val="0D0D0D"/>
                </a:solidFill>
                <a:latin typeface="Arial" panose="020B0604020202020204" pitchFamily="34" charset="0"/>
                <a:cs typeface="Arial" panose="020B0604020202020204" pitchFamily="34" charset="0"/>
              </a:rPr>
              <a:t>:</a:t>
            </a:r>
            <a:r>
              <a:rPr lang="es-MX" sz="7200" dirty="0">
                <a:solidFill>
                  <a:srgbClr val="0D0D0D"/>
                </a:solidFill>
                <a:latin typeface="Arial" panose="020B0604020202020204" pitchFamily="34" charset="0"/>
                <a:cs typeface="Arial" panose="020B0604020202020204" pitchFamily="34" charset="0"/>
              </a:rPr>
              <a:t> Reunión al inicio de cada sprint donde el equipo selecciona las tareas a realizar durante el sprint y las descompone en tareas más pequeñas.</a:t>
            </a:r>
          </a:p>
          <a:p>
            <a:pPr lvl="1" algn="just">
              <a:buFont typeface="Arial" panose="020B0604020202020204" pitchFamily="34" charset="0"/>
              <a:buChar char="•"/>
              <a:defRPr/>
            </a:pPr>
            <a:r>
              <a:rPr lang="es-MX" sz="7200" b="1" dirty="0" err="1">
                <a:solidFill>
                  <a:srgbClr val="0D0D0D"/>
                </a:solidFill>
                <a:latin typeface="Arial" panose="020B0604020202020204" pitchFamily="34" charset="0"/>
                <a:cs typeface="Arial" panose="020B0604020202020204" pitchFamily="34" charset="0"/>
              </a:rPr>
              <a:t>Daily</a:t>
            </a:r>
            <a:r>
              <a:rPr lang="es-MX" sz="7200" b="1" dirty="0">
                <a:solidFill>
                  <a:srgbClr val="0D0D0D"/>
                </a:solidFill>
                <a:latin typeface="Arial" panose="020B0604020202020204" pitchFamily="34" charset="0"/>
                <a:cs typeface="Arial" panose="020B0604020202020204" pitchFamily="34" charset="0"/>
              </a:rPr>
              <a:t> Scrum:</a:t>
            </a:r>
            <a:r>
              <a:rPr lang="es-MX" sz="7200" dirty="0">
                <a:solidFill>
                  <a:srgbClr val="0D0D0D"/>
                </a:solidFill>
                <a:latin typeface="Arial" panose="020B0604020202020204" pitchFamily="34" charset="0"/>
                <a:cs typeface="Arial" panose="020B0604020202020204" pitchFamily="34" charset="0"/>
              </a:rPr>
              <a:t> Reunión diaria corta (15 minutos) donde el equipo comparte el progreso, identifica obstáculos y coordina el trabajo para el día.</a:t>
            </a:r>
          </a:p>
          <a:p>
            <a:pPr lvl="1">
              <a:buFont typeface="Arial" panose="020B0604020202020204" pitchFamily="34" charset="0"/>
              <a:buChar char="•"/>
              <a:defRPr/>
            </a:pPr>
            <a:endParaRPr lang="es-MX" sz="7200" dirty="0">
              <a:solidFill>
                <a:srgbClr val="0D0D0D"/>
              </a:solidFill>
              <a:latin typeface="Arial" panose="020B0604020202020204" pitchFamily="34" charset="0"/>
              <a:cs typeface="Arial" panose="020B0604020202020204" pitchFamily="34" charset="0"/>
            </a:endParaRPr>
          </a:p>
          <a:p>
            <a:pPr>
              <a:defRPr/>
            </a:pPr>
            <a:endParaRPr lang="es-CO"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ítulo 1"/>
          <p:cNvSpPr>
            <a:spLocks noGrp="1"/>
          </p:cNvSpPr>
          <p:nvPr>
            <p:ph type="title"/>
          </p:nvPr>
        </p:nvSpPr>
        <p:spPr>
          <a:xfrm>
            <a:off x="457200" y="274638"/>
            <a:ext cx="8229600" cy="457200"/>
          </a:xfrm>
        </p:spPr>
        <p:txBody>
          <a:bodyPr/>
          <a:lstStyle/>
          <a:p>
            <a:r>
              <a:rPr lang="es-MX" altLang="es-CO" sz="2000" b="1" smtClean="0">
                <a:solidFill>
                  <a:srgbClr val="FF0000"/>
                </a:solidFill>
                <a:latin typeface="Arial" panose="020B0604020202020204" pitchFamily="34" charset="0"/>
                <a:cs typeface="Arial" panose="020B0604020202020204" pitchFamily="34" charset="0"/>
              </a:rPr>
              <a:t>Aspectos Principales de la Metodología SCRUM</a:t>
            </a:r>
            <a:endParaRPr lang="es-CO" altLang="es-CO" sz="2000" b="1" smtClean="0">
              <a:solidFill>
                <a:srgbClr val="FF0000"/>
              </a:solidFill>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457200" y="836613"/>
            <a:ext cx="8229600" cy="5832475"/>
          </a:xfrm>
        </p:spPr>
        <p:txBody>
          <a:bodyPr>
            <a:normAutofit fontScale="25000" lnSpcReduction="20000"/>
          </a:bodyPr>
          <a:lstStyle/>
          <a:p>
            <a:pPr lvl="1" algn="just">
              <a:buFont typeface="Arial" panose="020B0604020202020204" pitchFamily="34" charset="0"/>
              <a:buChar char="•"/>
              <a:defRPr/>
            </a:pPr>
            <a:endParaRPr lang="es-MX" sz="7200" b="1" dirty="0">
              <a:solidFill>
                <a:srgbClr val="0D0D0D"/>
              </a:solidFill>
              <a:latin typeface="Arial" panose="020B0604020202020204" pitchFamily="34" charset="0"/>
              <a:cs typeface="Arial" panose="020B0604020202020204" pitchFamily="34" charset="0"/>
            </a:endParaRP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Sprint </a:t>
            </a:r>
            <a:r>
              <a:rPr lang="es-MX" sz="7200" b="1" dirty="0" err="1">
                <a:solidFill>
                  <a:srgbClr val="0D0D0D"/>
                </a:solidFill>
                <a:latin typeface="Arial" panose="020B0604020202020204" pitchFamily="34" charset="0"/>
                <a:cs typeface="Arial" panose="020B0604020202020204" pitchFamily="34" charset="0"/>
              </a:rPr>
              <a:t>Review</a:t>
            </a:r>
            <a:r>
              <a:rPr lang="es-MX" sz="7200" b="1" dirty="0">
                <a:solidFill>
                  <a:srgbClr val="0D0D0D"/>
                </a:solidFill>
                <a:latin typeface="Arial" panose="020B0604020202020204" pitchFamily="34" charset="0"/>
                <a:cs typeface="Arial" panose="020B0604020202020204" pitchFamily="34" charset="0"/>
              </a:rPr>
              <a:t>:</a:t>
            </a:r>
            <a:r>
              <a:rPr lang="es-MX" sz="7200" dirty="0">
                <a:solidFill>
                  <a:srgbClr val="0D0D0D"/>
                </a:solidFill>
                <a:latin typeface="Arial" panose="020B0604020202020204" pitchFamily="34" charset="0"/>
                <a:cs typeface="Arial" panose="020B0604020202020204" pitchFamily="34" charset="0"/>
              </a:rPr>
              <a:t> Reunión al final de cada sprint donde el equipo presenta el incremento completado y recibe retroalimentación del Product Owner y los </a:t>
            </a:r>
            <a:r>
              <a:rPr lang="es-MX" sz="7200" dirty="0" err="1">
                <a:solidFill>
                  <a:srgbClr val="0D0D0D"/>
                </a:solidFill>
                <a:latin typeface="Arial" panose="020B0604020202020204" pitchFamily="34" charset="0"/>
                <a:cs typeface="Arial" panose="020B0604020202020204" pitchFamily="34" charset="0"/>
              </a:rPr>
              <a:t>stakeholders</a:t>
            </a:r>
            <a:r>
              <a:rPr lang="es-MX" sz="7200" dirty="0">
                <a:solidFill>
                  <a:srgbClr val="0D0D0D"/>
                </a:solidFill>
                <a:latin typeface="Arial" panose="020B0604020202020204" pitchFamily="34" charset="0"/>
                <a:cs typeface="Arial" panose="020B0604020202020204" pitchFamily="34" charset="0"/>
              </a:rPr>
              <a:t>.</a:t>
            </a: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Sprint Retrospective:</a:t>
            </a:r>
            <a:r>
              <a:rPr lang="es-MX" sz="7200" dirty="0">
                <a:solidFill>
                  <a:srgbClr val="0D0D0D"/>
                </a:solidFill>
                <a:latin typeface="Arial" panose="020B0604020202020204" pitchFamily="34" charset="0"/>
                <a:cs typeface="Arial" panose="020B0604020202020204" pitchFamily="34" charset="0"/>
              </a:rPr>
              <a:t> Reunión al final de cada sprint donde el equipo reflexiona sobre su desempeño y busca maneras de mejorar para el próximo sprint.</a:t>
            </a:r>
          </a:p>
          <a:p>
            <a:pPr marL="457200" lvl="1" indent="0">
              <a:buFont typeface="Arial" panose="020B0604020202020204" pitchFamily="34" charset="0"/>
              <a:buNone/>
              <a:defRPr/>
            </a:pPr>
            <a:endParaRPr lang="es-MX" sz="7200" dirty="0">
              <a:solidFill>
                <a:srgbClr val="0D0D0D"/>
              </a:solidFill>
              <a:latin typeface="Arial" panose="020B0604020202020204" pitchFamily="34" charset="0"/>
              <a:cs typeface="Arial" panose="020B0604020202020204" pitchFamily="34" charset="0"/>
            </a:endParaRPr>
          </a:p>
          <a:p>
            <a:pPr marL="0" indent="0">
              <a:buFont typeface="Arial" panose="020B0604020202020204" pitchFamily="34" charset="0"/>
              <a:buNone/>
              <a:defRPr/>
            </a:pPr>
            <a:r>
              <a:rPr lang="es-MX" sz="7200" b="1" dirty="0">
                <a:solidFill>
                  <a:srgbClr val="0D0D0D"/>
                </a:solidFill>
                <a:latin typeface="Arial" panose="020B0604020202020204" pitchFamily="34" charset="0"/>
                <a:cs typeface="Arial" panose="020B0604020202020204" pitchFamily="34" charset="0"/>
              </a:rPr>
              <a:t>4. Principios:</a:t>
            </a:r>
            <a:endParaRPr lang="es-MX" sz="7200" dirty="0">
              <a:solidFill>
                <a:srgbClr val="0D0D0D"/>
              </a:solidFill>
              <a:latin typeface="Arial" panose="020B0604020202020204" pitchFamily="34" charset="0"/>
              <a:cs typeface="Arial" panose="020B0604020202020204" pitchFamily="34" charset="0"/>
            </a:endParaRP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Transparencia, Inspección y Adaptación: </a:t>
            </a:r>
            <a:r>
              <a:rPr lang="es-MX" sz="7200" dirty="0">
                <a:solidFill>
                  <a:srgbClr val="0D0D0D"/>
                </a:solidFill>
                <a:latin typeface="Arial" panose="020B0604020202020204" pitchFamily="34" charset="0"/>
                <a:cs typeface="Arial" panose="020B0604020202020204" pitchFamily="34" charset="0"/>
              </a:rPr>
              <a:t>Scrum fomenta la transparencia en el trabajo, la inspección regular del progreso y la adaptación continua para mejorar.</a:t>
            </a: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Entrega Incremental: </a:t>
            </a:r>
            <a:r>
              <a:rPr lang="es-MX" sz="7200" dirty="0">
                <a:solidFill>
                  <a:srgbClr val="0D0D0D"/>
                </a:solidFill>
                <a:latin typeface="Arial" panose="020B0604020202020204" pitchFamily="34" charset="0"/>
                <a:cs typeface="Arial" panose="020B0604020202020204" pitchFamily="34" charset="0"/>
              </a:rPr>
              <a:t>El producto se entrega en incrementos funcionales al final de cada sprint, lo que permite obtener retroalimentación temprana y ajustar el enfoque según sea necesario.</a:t>
            </a:r>
          </a:p>
          <a:p>
            <a:pPr lvl="1" algn="just">
              <a:buFont typeface="Arial" panose="020B0604020202020204" pitchFamily="34" charset="0"/>
              <a:buChar char="•"/>
              <a:defRPr/>
            </a:pPr>
            <a:r>
              <a:rPr lang="es-MX" sz="7200" b="1" dirty="0">
                <a:solidFill>
                  <a:srgbClr val="0D0D0D"/>
                </a:solidFill>
                <a:latin typeface="Arial" panose="020B0604020202020204" pitchFamily="34" charset="0"/>
                <a:cs typeface="Arial" panose="020B0604020202020204" pitchFamily="34" charset="0"/>
              </a:rPr>
              <a:t>Colaboración y Autoorganización: </a:t>
            </a:r>
            <a:r>
              <a:rPr lang="es-MX" sz="7200" dirty="0">
                <a:solidFill>
                  <a:srgbClr val="0D0D0D"/>
                </a:solidFill>
                <a:latin typeface="Arial" panose="020B0604020202020204" pitchFamily="34" charset="0"/>
                <a:cs typeface="Arial" panose="020B0604020202020204" pitchFamily="34" charset="0"/>
              </a:rPr>
              <a:t>El equipo colabora estrechamente para lograr los objetivos del sprint y se autoorganiza para tomar decisiones y resolver problemas.</a:t>
            </a:r>
          </a:p>
          <a:p>
            <a:pPr lvl="1" algn="just">
              <a:buFont typeface="Arial" panose="020B0604020202020204" pitchFamily="34" charset="0"/>
              <a:buChar char="•"/>
              <a:defRPr/>
            </a:pPr>
            <a:endParaRPr lang="es-MX" sz="7200" dirty="0">
              <a:solidFill>
                <a:srgbClr val="0D0D0D"/>
              </a:solidFill>
              <a:latin typeface="Arial" panose="020B0604020202020204" pitchFamily="34" charset="0"/>
              <a:cs typeface="Arial" panose="020B0604020202020204" pitchFamily="34" charset="0"/>
            </a:endParaRPr>
          </a:p>
          <a:p>
            <a:pPr algn="just">
              <a:defRPr/>
            </a:pPr>
            <a:r>
              <a:rPr lang="es-MX" sz="8000" i="1" dirty="0">
                <a:solidFill>
                  <a:srgbClr val="0D0D0D"/>
                </a:solidFill>
                <a:latin typeface="Arial" panose="020B0604020202020204" pitchFamily="34" charset="0"/>
                <a:cs typeface="Arial" panose="020B0604020202020204" pitchFamily="34" charset="0"/>
              </a:rPr>
              <a:t>Al seguir la metodología Scrum, los equipos pueden trabajar de manera más efectiva, iterativa y colaborativa, lo que conduce a una entrega más rápida y de mayor calidad de los productos de software.</a:t>
            </a:r>
          </a:p>
          <a:p>
            <a:pPr>
              <a:defRPr/>
            </a:pPr>
            <a:endParaRPr lang="es-CO"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457200"/>
          </a:xfrm>
        </p:spPr>
        <p:txBody>
          <a:bodyPr>
            <a:noAutofit/>
          </a:bodyPr>
          <a:lstStyle/>
          <a:p>
            <a:pPr>
              <a:defRPr/>
            </a:pPr>
            <a:r>
              <a:rPr lang="es-CO" sz="1800" b="1" kern="0" dirty="0">
                <a:solidFill>
                  <a:srgbClr val="FF0000"/>
                </a:solidFill>
                <a:latin typeface="Segoe UI" panose="020B0502040204020203" pitchFamily="34" charset="0"/>
                <a:ea typeface="Times New Roman" panose="02020603050405020304" pitchFamily="18" charset="0"/>
                <a:cs typeface="Times New Roman" panose="02020603050405020304" pitchFamily="18" charset="0"/>
              </a:rPr>
              <a:t/>
            </a:r>
            <a:br>
              <a:rPr lang="es-CO" sz="1800" b="1" kern="0" dirty="0">
                <a:solidFill>
                  <a:srgbClr val="FF0000"/>
                </a:solidFill>
                <a:latin typeface="Segoe UI" panose="020B0502040204020203" pitchFamily="34" charset="0"/>
                <a:ea typeface="Times New Roman" panose="02020603050405020304" pitchFamily="18" charset="0"/>
                <a:cs typeface="Times New Roman" panose="02020603050405020304" pitchFamily="18" charset="0"/>
              </a:rPr>
            </a:br>
            <a:r>
              <a:rPr lang="es-CO" sz="1800" b="1" kern="0" dirty="0">
                <a:solidFill>
                  <a:srgbClr val="FF0000"/>
                </a:solidFill>
                <a:latin typeface="Arial" panose="020B0604020202020204" pitchFamily="34" charset="0"/>
                <a:ea typeface="Times New Roman" panose="02020603050405020304" pitchFamily="18" charset="0"/>
                <a:cs typeface="Arial" panose="020B0604020202020204" pitchFamily="34" charset="0"/>
              </a:rPr>
              <a:t>Funciones Principales  del Framework en Microservicios:</a:t>
            </a:r>
            <a:r>
              <a:rPr lang="es-CO" sz="1800" kern="100" dirty="0">
                <a:latin typeface="Arial" panose="020B0604020202020204" pitchFamily="34" charset="0"/>
                <a:ea typeface="Calibri" panose="020F0502020204030204" pitchFamily="34" charset="0"/>
                <a:cs typeface="Arial" panose="020B0604020202020204" pitchFamily="34" charset="0"/>
              </a:rPr>
              <a:t/>
            </a:r>
            <a:br>
              <a:rPr lang="es-CO" sz="1800" kern="100" dirty="0">
                <a:latin typeface="Arial" panose="020B0604020202020204" pitchFamily="34" charset="0"/>
                <a:ea typeface="Calibri" panose="020F0502020204030204" pitchFamily="34" charset="0"/>
                <a:cs typeface="Arial" panose="020B0604020202020204" pitchFamily="34" charset="0"/>
              </a:rPr>
            </a:br>
            <a:endParaRPr lang="es-CO" sz="1800" b="1" dirty="0">
              <a:solidFill>
                <a:srgbClr val="FF0000"/>
              </a:solidFill>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457200" y="731838"/>
            <a:ext cx="8229600" cy="5832475"/>
          </a:xfrm>
        </p:spPr>
        <p:txBody>
          <a:bodyPr>
            <a:normAutofit lnSpcReduction="10000"/>
          </a:bodyPr>
          <a:lstStyle/>
          <a:p>
            <a:pPr algn="just">
              <a:buFont typeface="Wingdings" panose="05000000000000000000" pitchFamily="2" charset="2"/>
              <a:buChar char="ü"/>
              <a:defRPr/>
            </a:pPr>
            <a:r>
              <a:rPr lang="es-ES" sz="1700" b="1" dirty="0">
                <a:latin typeface="Segoe UI" panose="020B0502040204020203" pitchFamily="34" charset="0"/>
                <a:cs typeface="Segoe UI" panose="020B0502040204020203" pitchFamily="34" charset="0"/>
              </a:rPr>
              <a:t>Abstracción y Simplificación: </a:t>
            </a:r>
            <a:r>
              <a:rPr lang="es-ES" sz="1700" dirty="0">
                <a:latin typeface="Segoe UI" panose="020B0502040204020203" pitchFamily="34" charset="0"/>
                <a:cs typeface="Segoe UI" panose="020B0502040204020203" pitchFamily="34" charset="0"/>
              </a:rPr>
              <a:t>Facilita la creación de microservicios al proporcionar componentes y bibliotecas reutilizables para el manejo de tareas comunes, como el enrutamiento de solicitudes, el manejo de errores, y la integración con bases de datos.</a:t>
            </a:r>
          </a:p>
          <a:p>
            <a:pPr algn="just">
              <a:buFont typeface="Wingdings" panose="05000000000000000000" pitchFamily="2" charset="2"/>
              <a:buChar char="ü"/>
              <a:defRPr/>
            </a:pPr>
            <a:endParaRPr lang="es-ES" sz="1700" dirty="0">
              <a:latin typeface="Segoe UI" panose="020B0502040204020203" pitchFamily="34" charset="0"/>
              <a:cs typeface="Segoe UI" panose="020B0502040204020203" pitchFamily="34" charset="0"/>
            </a:endParaRPr>
          </a:p>
          <a:p>
            <a:pPr algn="just">
              <a:buFont typeface="Wingdings" panose="05000000000000000000" pitchFamily="2" charset="2"/>
              <a:buChar char="ü"/>
              <a:defRPr/>
            </a:pPr>
            <a:r>
              <a:rPr lang="es-ES" sz="1700" b="1" dirty="0">
                <a:latin typeface="Segoe UI" panose="020B0502040204020203" pitchFamily="34" charset="0"/>
                <a:cs typeface="Segoe UI" panose="020B0502040204020203" pitchFamily="34" charset="0"/>
              </a:rPr>
              <a:t>Soporte para Comunicación entre Servicios: </a:t>
            </a:r>
            <a:r>
              <a:rPr lang="es-ES" sz="1700" dirty="0">
                <a:latin typeface="Segoe UI" panose="020B0502040204020203" pitchFamily="34" charset="0"/>
                <a:cs typeface="Segoe UI" panose="020B0502040204020203" pitchFamily="34" charset="0"/>
              </a:rPr>
              <a:t>Los </a:t>
            </a:r>
            <a:r>
              <a:rPr lang="es-ES" sz="1700" dirty="0" err="1">
                <a:latin typeface="Segoe UI" panose="020B0502040204020203" pitchFamily="34" charset="0"/>
                <a:cs typeface="Segoe UI" panose="020B0502040204020203" pitchFamily="34" charset="0"/>
              </a:rPr>
              <a:t>frameworks</a:t>
            </a:r>
            <a:r>
              <a:rPr lang="es-ES" sz="1700" dirty="0">
                <a:latin typeface="Segoe UI" panose="020B0502040204020203" pitchFamily="34" charset="0"/>
                <a:cs typeface="Segoe UI" panose="020B0502040204020203" pitchFamily="34" charset="0"/>
              </a:rPr>
              <a:t> modernos soportan la comunicación </a:t>
            </a:r>
            <a:r>
              <a:rPr lang="es-ES" sz="1700" dirty="0" err="1">
                <a:latin typeface="Segoe UI" panose="020B0502040204020203" pitchFamily="34" charset="0"/>
                <a:cs typeface="Segoe UI" panose="020B0502040204020203" pitchFamily="34" charset="0"/>
              </a:rPr>
              <a:t>inter-servicios</a:t>
            </a:r>
            <a:r>
              <a:rPr lang="es-ES" sz="1700" dirty="0">
                <a:latin typeface="Segoe UI" panose="020B0502040204020203" pitchFamily="34" charset="0"/>
                <a:cs typeface="Segoe UI" panose="020B0502040204020203" pitchFamily="34" charset="0"/>
              </a:rPr>
              <a:t> a través de tecnologías como REST, </a:t>
            </a:r>
            <a:r>
              <a:rPr lang="es-ES" sz="1700" dirty="0" err="1">
                <a:latin typeface="Segoe UI" panose="020B0502040204020203" pitchFamily="34" charset="0"/>
                <a:cs typeface="Segoe UI" panose="020B0502040204020203" pitchFamily="34" charset="0"/>
              </a:rPr>
              <a:t>gRPC</a:t>
            </a:r>
            <a:r>
              <a:rPr lang="es-ES" sz="1700" dirty="0">
                <a:latin typeface="Segoe UI" panose="020B0502040204020203" pitchFamily="34" charset="0"/>
                <a:cs typeface="Segoe UI" panose="020B0502040204020203" pitchFamily="34" charset="0"/>
              </a:rPr>
              <a:t>, o mensajería (</a:t>
            </a:r>
            <a:r>
              <a:rPr lang="es-ES" sz="1700" dirty="0" err="1">
                <a:latin typeface="Segoe UI" panose="020B0502040204020203" pitchFamily="34" charset="0"/>
                <a:cs typeface="Segoe UI" panose="020B0502040204020203" pitchFamily="34" charset="0"/>
              </a:rPr>
              <a:t>RabbitMQ</a:t>
            </a:r>
            <a:r>
              <a:rPr lang="es-ES" sz="1700" dirty="0">
                <a:latin typeface="Segoe UI" panose="020B0502040204020203" pitchFamily="34" charset="0"/>
                <a:cs typeface="Segoe UI" panose="020B0502040204020203" pitchFamily="34" charset="0"/>
              </a:rPr>
              <a:t>, Kafka). Esto ayuda a que los microservicios interactúen entre sí de manera eficiente.</a:t>
            </a:r>
          </a:p>
          <a:p>
            <a:pPr algn="just">
              <a:buFont typeface="Wingdings" panose="05000000000000000000" pitchFamily="2" charset="2"/>
              <a:buChar char="ü"/>
              <a:defRPr/>
            </a:pPr>
            <a:endParaRPr lang="es-ES" sz="1700" dirty="0">
              <a:latin typeface="Segoe UI" panose="020B0502040204020203" pitchFamily="34" charset="0"/>
              <a:cs typeface="Segoe UI" panose="020B0502040204020203" pitchFamily="34" charset="0"/>
            </a:endParaRPr>
          </a:p>
          <a:p>
            <a:pPr algn="just">
              <a:buFont typeface="Wingdings" panose="05000000000000000000" pitchFamily="2" charset="2"/>
              <a:buChar char="ü"/>
              <a:defRPr/>
            </a:pPr>
            <a:r>
              <a:rPr lang="es-ES" sz="1700" b="1" dirty="0">
                <a:latin typeface="Segoe UI" panose="020B0502040204020203" pitchFamily="34" charset="0"/>
                <a:cs typeface="Segoe UI" panose="020B0502040204020203" pitchFamily="34" charset="0"/>
              </a:rPr>
              <a:t>Configuración de Contenedores y Orquestación: </a:t>
            </a:r>
            <a:r>
              <a:rPr lang="es-ES" sz="1700" dirty="0">
                <a:latin typeface="Segoe UI" panose="020B0502040204020203" pitchFamily="34" charset="0"/>
                <a:cs typeface="Segoe UI" panose="020B0502040204020203" pitchFamily="34" charset="0"/>
              </a:rPr>
              <a:t>Algunos </a:t>
            </a:r>
            <a:r>
              <a:rPr lang="es-ES" sz="1700" dirty="0" err="1">
                <a:latin typeface="Segoe UI" panose="020B0502040204020203" pitchFamily="34" charset="0"/>
                <a:cs typeface="Segoe UI" panose="020B0502040204020203" pitchFamily="34" charset="0"/>
              </a:rPr>
              <a:t>frameworks</a:t>
            </a:r>
            <a:r>
              <a:rPr lang="es-ES" sz="1700" dirty="0">
                <a:latin typeface="Segoe UI" panose="020B0502040204020203" pitchFamily="34" charset="0"/>
                <a:cs typeface="Segoe UI" panose="020B0502040204020203" pitchFamily="34" charset="0"/>
              </a:rPr>
              <a:t> están diseñados para trabajar en conjunto con herramientas de </a:t>
            </a:r>
            <a:r>
              <a:rPr lang="es-ES" sz="1700" dirty="0" err="1">
                <a:latin typeface="Segoe UI" panose="020B0502040204020203" pitchFamily="34" charset="0"/>
                <a:cs typeface="Segoe UI" panose="020B0502040204020203" pitchFamily="34" charset="0"/>
              </a:rPr>
              <a:t>contenerización</a:t>
            </a:r>
            <a:r>
              <a:rPr lang="es-ES" sz="1700" dirty="0">
                <a:latin typeface="Segoe UI" panose="020B0502040204020203" pitchFamily="34" charset="0"/>
                <a:cs typeface="Segoe UI" panose="020B0502040204020203" pitchFamily="34" charset="0"/>
              </a:rPr>
              <a:t> como Docker y orquestadores como </a:t>
            </a:r>
            <a:r>
              <a:rPr lang="es-ES" sz="1700" dirty="0" err="1">
                <a:latin typeface="Segoe UI" panose="020B0502040204020203" pitchFamily="34" charset="0"/>
                <a:cs typeface="Segoe UI" panose="020B0502040204020203" pitchFamily="34" charset="0"/>
              </a:rPr>
              <a:t>Kubernetes</a:t>
            </a:r>
            <a:r>
              <a:rPr lang="es-ES" sz="1700" dirty="0">
                <a:latin typeface="Segoe UI" panose="020B0502040204020203" pitchFamily="34" charset="0"/>
                <a:cs typeface="Segoe UI" panose="020B0502040204020203" pitchFamily="34" charset="0"/>
              </a:rPr>
              <a:t>, facilitando el despliegue y escalabilidad de los microservicios.</a:t>
            </a:r>
          </a:p>
          <a:p>
            <a:pPr algn="just">
              <a:buFont typeface="Wingdings" panose="05000000000000000000" pitchFamily="2" charset="2"/>
              <a:buChar char="ü"/>
              <a:defRPr/>
            </a:pPr>
            <a:endParaRPr lang="es-ES" sz="1700" dirty="0">
              <a:latin typeface="Segoe UI" panose="020B0502040204020203" pitchFamily="34" charset="0"/>
              <a:cs typeface="Segoe UI" panose="020B0502040204020203" pitchFamily="34" charset="0"/>
            </a:endParaRPr>
          </a:p>
          <a:p>
            <a:pPr algn="just">
              <a:buFont typeface="Wingdings" panose="05000000000000000000" pitchFamily="2" charset="2"/>
              <a:buChar char="ü"/>
              <a:defRPr/>
            </a:pPr>
            <a:r>
              <a:rPr lang="es-ES" sz="1700" b="1" dirty="0">
                <a:latin typeface="Segoe UI" panose="020B0502040204020203" pitchFamily="34" charset="0"/>
                <a:cs typeface="Segoe UI" panose="020B0502040204020203" pitchFamily="34" charset="0"/>
              </a:rPr>
              <a:t>Integración Continua y Despliegue (CI/CD): </a:t>
            </a:r>
            <a:r>
              <a:rPr lang="es-ES" sz="1700" dirty="0">
                <a:latin typeface="Segoe UI" panose="020B0502040204020203" pitchFamily="34" charset="0"/>
                <a:cs typeface="Segoe UI" panose="020B0502040204020203" pitchFamily="34" charset="0"/>
              </a:rPr>
              <a:t>El </a:t>
            </a:r>
            <a:r>
              <a:rPr lang="es-ES" sz="1700" dirty="0" err="1">
                <a:latin typeface="Segoe UI" panose="020B0502040204020203" pitchFamily="34" charset="0"/>
                <a:cs typeface="Segoe UI" panose="020B0502040204020203" pitchFamily="34" charset="0"/>
              </a:rPr>
              <a:t>framework</a:t>
            </a:r>
            <a:r>
              <a:rPr lang="es-ES" sz="1700" dirty="0">
                <a:latin typeface="Segoe UI" panose="020B0502040204020203" pitchFamily="34" charset="0"/>
                <a:cs typeface="Segoe UI" panose="020B0502040204020203" pitchFamily="34" charset="0"/>
              </a:rPr>
              <a:t> puede facilitar la automatización del ciclo de vida del software, desde la construcción del código hasta el despliegue en producción, integrándose con herramientas de CI/CD.</a:t>
            </a:r>
          </a:p>
          <a:p>
            <a:pPr marL="0" indent="0" algn="just">
              <a:buFont typeface="Arial" panose="020B0604020202020204" pitchFamily="34" charset="0"/>
              <a:buNone/>
              <a:defRPr/>
            </a:pPr>
            <a:endParaRPr lang="es-ES" sz="1700" dirty="0">
              <a:latin typeface="Segoe UI" panose="020B0502040204020203" pitchFamily="34" charset="0"/>
              <a:cs typeface="Segoe UI" panose="020B0502040204020203" pitchFamily="34" charset="0"/>
            </a:endParaRPr>
          </a:p>
          <a:p>
            <a:pPr algn="just">
              <a:buFont typeface="Wingdings" panose="05000000000000000000" pitchFamily="2" charset="2"/>
              <a:buChar char="ü"/>
              <a:defRPr/>
            </a:pPr>
            <a:r>
              <a:rPr lang="es-ES" sz="1700" b="1" dirty="0">
                <a:latin typeface="Segoe UI" panose="020B0502040204020203" pitchFamily="34" charset="0"/>
                <a:cs typeface="Segoe UI" panose="020B0502040204020203" pitchFamily="34" charset="0"/>
              </a:rPr>
              <a:t>Escalabilidad y Tolerancia a Fallos: </a:t>
            </a:r>
            <a:r>
              <a:rPr lang="es-ES" sz="1700" dirty="0">
                <a:latin typeface="Segoe UI" panose="020B0502040204020203" pitchFamily="34" charset="0"/>
                <a:cs typeface="Segoe UI" panose="020B0502040204020203" pitchFamily="34" charset="0"/>
              </a:rPr>
              <a:t>Proporciona mecanismos para manejar la escalabilidad horizontal (escalado de instancias de microservicios) y la tolerancia a fallos (como el uso de patrones de diseño resilientes).</a:t>
            </a:r>
          </a:p>
          <a:p>
            <a:pPr>
              <a:defRPr/>
            </a:pPr>
            <a:endParaRPr lang="es-CO"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457200"/>
          </a:xfrm>
        </p:spPr>
        <p:txBody>
          <a:bodyPr>
            <a:noAutofit/>
          </a:bodyPr>
          <a:lstStyle/>
          <a:p>
            <a:pPr>
              <a:defRPr/>
            </a:pPr>
            <a:r>
              <a:rPr lang="es-CO" sz="1800" b="1" kern="0" dirty="0">
                <a:solidFill>
                  <a:srgbClr val="FF0000"/>
                </a:solidFill>
                <a:latin typeface="Segoe UI" panose="020B0502040204020203" pitchFamily="34" charset="0"/>
                <a:ea typeface="Times New Roman" panose="02020603050405020304" pitchFamily="18" charset="0"/>
                <a:cs typeface="Times New Roman" panose="02020603050405020304" pitchFamily="18" charset="0"/>
              </a:rPr>
              <a:t/>
            </a:r>
            <a:br>
              <a:rPr lang="es-CO" sz="1800" b="1" kern="0" dirty="0">
                <a:solidFill>
                  <a:srgbClr val="FF0000"/>
                </a:solidFill>
                <a:latin typeface="Segoe UI" panose="020B0502040204020203" pitchFamily="34" charset="0"/>
                <a:ea typeface="Times New Roman" panose="02020603050405020304" pitchFamily="18" charset="0"/>
                <a:cs typeface="Times New Roman" panose="02020603050405020304" pitchFamily="18" charset="0"/>
              </a:rPr>
            </a:br>
            <a:r>
              <a:rPr lang="es-CO" sz="2000" b="1" kern="0" dirty="0">
                <a:solidFill>
                  <a:srgbClr val="FF0000"/>
                </a:solidFill>
                <a:latin typeface="Arial" panose="020B0604020202020204" pitchFamily="34" charset="0"/>
                <a:ea typeface="Times New Roman" panose="02020603050405020304" pitchFamily="18" charset="0"/>
                <a:cs typeface="Arial" panose="020B0604020202020204" pitchFamily="34" charset="0"/>
              </a:rPr>
              <a:t>Funciones Principales  del Backend en Microservicios</a:t>
            </a:r>
            <a:r>
              <a:rPr lang="es-CO" sz="2000" b="1" kern="0" dirty="0">
                <a:latin typeface="Arial" panose="020B0604020202020204" pitchFamily="34" charset="0"/>
                <a:ea typeface="Times New Roman" panose="02020603050405020304" pitchFamily="18" charset="0"/>
                <a:cs typeface="Arial" panose="020B0604020202020204" pitchFamily="34" charset="0"/>
              </a:rPr>
              <a:t>:</a:t>
            </a:r>
            <a:r>
              <a:rPr lang="es-CO" sz="2000" kern="100" dirty="0">
                <a:latin typeface="Arial" panose="020B0604020202020204" pitchFamily="34" charset="0"/>
                <a:ea typeface="Calibri" panose="020F0502020204030204" pitchFamily="34" charset="0"/>
                <a:cs typeface="Arial" panose="020B0604020202020204" pitchFamily="34" charset="0"/>
              </a:rPr>
              <a:t/>
            </a:r>
            <a:br>
              <a:rPr lang="es-CO" sz="2000" kern="100" dirty="0">
                <a:latin typeface="Arial" panose="020B0604020202020204" pitchFamily="34" charset="0"/>
                <a:ea typeface="Calibri" panose="020F0502020204030204" pitchFamily="34" charset="0"/>
                <a:cs typeface="Arial" panose="020B0604020202020204" pitchFamily="34" charset="0"/>
              </a:rPr>
            </a:br>
            <a:endParaRPr lang="es-CO" sz="2000" b="1" dirty="0">
              <a:solidFill>
                <a:srgbClr val="FF0000"/>
              </a:solidFill>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457200" y="731838"/>
            <a:ext cx="8229600" cy="5649912"/>
          </a:xfrm>
        </p:spPr>
        <p:txBody>
          <a:bodyPr>
            <a:normAutofit fontScale="92500" lnSpcReduction="20000"/>
          </a:bodyPr>
          <a:lstStyle/>
          <a:p>
            <a:pPr algn="just">
              <a:lnSpc>
                <a:spcPct val="107000"/>
              </a:lnSpc>
              <a:spcAft>
                <a:spcPts val="800"/>
              </a:spcAft>
              <a:buFont typeface="Wingdings" panose="05000000000000000000" pitchFamily="2" charset="2"/>
              <a:buChar char="ü"/>
              <a:tabLst>
                <a:tab pos="457200" algn="l"/>
              </a:tabLst>
              <a:defRPr/>
            </a:pPr>
            <a:r>
              <a:rPr lang="es-CO" sz="1800" b="1" kern="0" dirty="0">
                <a:latin typeface="Segoe UI" panose="020B0502040204020203" pitchFamily="34" charset="0"/>
                <a:ea typeface="Times New Roman" panose="02020603050405020304" pitchFamily="18" charset="0"/>
                <a:cs typeface="Times New Roman" panose="02020603050405020304" pitchFamily="18" charset="0"/>
              </a:rPr>
              <a:t>Servicios Independientes</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Cada microservicio es un servicio autónomo que maneja una funcionalidad específica del negocio (por ejemplo, autenticación, procesamiento de pagos o gestión de usuarios). Esto significa que cada servicio puede ser desarrollado, desplegado y escalado de manera independiente.</a:t>
            </a:r>
            <a:endParaRPr lang="es-CO" sz="1800" kern="100" dirty="0">
              <a:ea typeface="Calibri" panose="020F0502020204030204" pitchFamily="34" charset="0"/>
              <a:cs typeface="Times New Roman" panose="02020603050405020304" pitchFamily="18" charset="0"/>
            </a:endParaRPr>
          </a:p>
          <a:p>
            <a:pPr algn="just">
              <a:lnSpc>
                <a:spcPct val="107000"/>
              </a:lnSpc>
              <a:spcAft>
                <a:spcPts val="800"/>
              </a:spcAft>
              <a:buFont typeface="Wingdings" panose="05000000000000000000" pitchFamily="2" charset="2"/>
              <a:buChar char="ü"/>
              <a:tabLst>
                <a:tab pos="457200" algn="l"/>
              </a:tabLst>
              <a:defRPr/>
            </a:pPr>
            <a:r>
              <a:rPr lang="es-CO" sz="1800" b="1" kern="0" dirty="0">
                <a:latin typeface="Segoe UI" panose="020B0502040204020203" pitchFamily="34" charset="0"/>
                <a:ea typeface="Times New Roman" panose="02020603050405020304" pitchFamily="18" charset="0"/>
                <a:cs typeface="Times New Roman" panose="02020603050405020304" pitchFamily="18" charset="0"/>
              </a:rPr>
              <a:t>Comunicación entre Servicios</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Los microservicios suelen comunicarse entre sí a través de </a:t>
            </a:r>
            <a:r>
              <a:rPr lang="es-CO" sz="1800" kern="0" dirty="0" err="1">
                <a:latin typeface="Segoe UI" panose="020B0502040204020203" pitchFamily="34" charset="0"/>
                <a:ea typeface="Times New Roman" panose="02020603050405020304" pitchFamily="18" charset="0"/>
                <a:cs typeface="Times New Roman" panose="02020603050405020304" pitchFamily="18" charset="0"/>
              </a:rPr>
              <a:t>APIs</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(como REST o </a:t>
            </a:r>
            <a:r>
              <a:rPr lang="es-CO" sz="1800" kern="0" dirty="0" err="1">
                <a:latin typeface="Segoe UI" panose="020B0502040204020203" pitchFamily="34" charset="0"/>
                <a:ea typeface="Times New Roman" panose="02020603050405020304" pitchFamily="18" charset="0"/>
                <a:cs typeface="Times New Roman" panose="02020603050405020304" pitchFamily="18" charset="0"/>
              </a:rPr>
              <a:t>gRPC</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o mediante mensajería asíncrona (usando colas de mensajes como </a:t>
            </a:r>
            <a:r>
              <a:rPr lang="es-CO" sz="1800" kern="0" dirty="0" err="1">
                <a:latin typeface="Segoe UI" panose="020B0502040204020203" pitchFamily="34" charset="0"/>
                <a:ea typeface="Times New Roman" panose="02020603050405020304" pitchFamily="18" charset="0"/>
                <a:cs typeface="Times New Roman" panose="02020603050405020304" pitchFamily="18" charset="0"/>
              </a:rPr>
              <a:t>RabbitMQ</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o Apache Kafka). El objetivo es permitir que los servicios colaboren para realizar tareas más complejas.</a:t>
            </a:r>
            <a:endParaRPr lang="es-CO" sz="1800" kern="100" dirty="0">
              <a:ea typeface="Calibri" panose="020F0502020204030204" pitchFamily="34" charset="0"/>
              <a:cs typeface="Times New Roman" panose="02020603050405020304" pitchFamily="18" charset="0"/>
            </a:endParaRPr>
          </a:p>
          <a:p>
            <a:pPr algn="just">
              <a:lnSpc>
                <a:spcPct val="107000"/>
              </a:lnSpc>
              <a:spcAft>
                <a:spcPts val="800"/>
              </a:spcAft>
              <a:buFont typeface="Wingdings" panose="05000000000000000000" pitchFamily="2" charset="2"/>
              <a:buChar char="ü"/>
              <a:tabLst>
                <a:tab pos="457200" algn="l"/>
              </a:tabLst>
              <a:defRPr/>
            </a:pPr>
            <a:r>
              <a:rPr lang="es-CO" sz="1800" b="1" kern="0" dirty="0">
                <a:latin typeface="Segoe UI" panose="020B0502040204020203" pitchFamily="34" charset="0"/>
                <a:ea typeface="Times New Roman" panose="02020603050405020304" pitchFamily="18" charset="0"/>
                <a:cs typeface="Times New Roman" panose="02020603050405020304" pitchFamily="18" charset="0"/>
              </a:rPr>
              <a:t>Persistencia de Datos Distribuida</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En lugar de tener una única base de datos central, cada microservicio puede tener su propia base de datos o persistencia de datos, lo que facilita la independencia y escalabilidad. Esto también mejora la resiliencia, ya que un fallo en un servicio no necesariamente afecta a otros.</a:t>
            </a:r>
            <a:endParaRPr lang="es-CO" sz="1800" kern="100" dirty="0">
              <a:ea typeface="Calibri" panose="020F0502020204030204" pitchFamily="34" charset="0"/>
              <a:cs typeface="Times New Roman" panose="02020603050405020304" pitchFamily="18" charset="0"/>
            </a:endParaRPr>
          </a:p>
          <a:p>
            <a:pPr algn="just">
              <a:lnSpc>
                <a:spcPct val="107000"/>
              </a:lnSpc>
              <a:spcAft>
                <a:spcPts val="800"/>
              </a:spcAft>
              <a:buFont typeface="Wingdings" panose="05000000000000000000" pitchFamily="2" charset="2"/>
              <a:buChar char="ü"/>
              <a:tabLst>
                <a:tab pos="457200" algn="l"/>
              </a:tabLst>
              <a:defRPr/>
            </a:pPr>
            <a:r>
              <a:rPr lang="es-CO" sz="1800" b="1" kern="0" dirty="0">
                <a:latin typeface="Segoe UI" panose="020B0502040204020203" pitchFamily="34" charset="0"/>
                <a:ea typeface="Times New Roman" panose="02020603050405020304" pitchFamily="18" charset="0"/>
                <a:cs typeface="Times New Roman" panose="02020603050405020304" pitchFamily="18" charset="0"/>
              </a:rPr>
              <a:t>Escalabilidad y Despliegue Independiente</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El backend basado en microservicios permite que cada servicio sea escalado por separado, lo que optimiza el uso de recursos. También facilita el despliegue continuo (CI/CD), permitiendo actualizaciones frecuentes y menores interrupciones.</a:t>
            </a:r>
            <a:endParaRPr lang="es-CO" sz="1800" kern="100" dirty="0">
              <a:ea typeface="Calibri" panose="020F0502020204030204" pitchFamily="34" charset="0"/>
              <a:cs typeface="Times New Roman" panose="02020603050405020304" pitchFamily="18" charset="0"/>
            </a:endParaRPr>
          </a:p>
          <a:p>
            <a:pPr algn="just">
              <a:lnSpc>
                <a:spcPct val="107000"/>
              </a:lnSpc>
              <a:spcAft>
                <a:spcPts val="800"/>
              </a:spcAft>
              <a:buFont typeface="Wingdings" panose="05000000000000000000" pitchFamily="2" charset="2"/>
              <a:buChar char="ü"/>
              <a:tabLst>
                <a:tab pos="457200" algn="l"/>
              </a:tabLst>
              <a:defRPr/>
            </a:pPr>
            <a:r>
              <a:rPr lang="es-CO" sz="1800" b="1" kern="0" dirty="0">
                <a:latin typeface="Segoe UI" panose="020B0502040204020203" pitchFamily="34" charset="0"/>
                <a:ea typeface="Times New Roman" panose="02020603050405020304" pitchFamily="18" charset="0"/>
                <a:cs typeface="Times New Roman" panose="02020603050405020304" pitchFamily="18" charset="0"/>
              </a:rPr>
              <a:t>Uso de Contenedores y Orquestación</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Los microservicios suelen ser desplegados en contenedores (por ejemplo, Docker), y administrados mediante herramientas de orquestación como </a:t>
            </a:r>
            <a:r>
              <a:rPr lang="es-CO" sz="1800" kern="0" dirty="0" err="1">
                <a:latin typeface="Segoe UI" panose="020B0502040204020203" pitchFamily="34" charset="0"/>
                <a:ea typeface="Times New Roman" panose="02020603050405020304" pitchFamily="18" charset="0"/>
                <a:cs typeface="Times New Roman" panose="02020603050405020304" pitchFamily="18" charset="0"/>
              </a:rPr>
              <a:t>Kubernetes</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lo que facilita la gestión del ciclo de vida de los servicios, su escalabilidad y su recuperación ante fallos.</a:t>
            </a:r>
            <a:endParaRPr lang="es-CO" sz="1800" kern="100" dirty="0">
              <a:ea typeface="Calibri" panose="020F0502020204030204" pitchFamily="34" charset="0"/>
              <a:cs typeface="Times New Roman" panose="02020603050405020304" pitchFamily="18" charset="0"/>
            </a:endParaRPr>
          </a:p>
          <a:p>
            <a:pPr>
              <a:defRPr/>
            </a:pPr>
            <a:endParaRPr lang="es-CO"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457200"/>
          </a:xfrm>
        </p:spPr>
        <p:txBody>
          <a:bodyPr>
            <a:noAutofit/>
          </a:bodyPr>
          <a:lstStyle/>
          <a:p>
            <a:pPr>
              <a:defRPr/>
            </a:pPr>
            <a:r>
              <a:rPr lang="es-CO" sz="1800" b="1" kern="0" dirty="0">
                <a:solidFill>
                  <a:srgbClr val="FF0000"/>
                </a:solidFill>
                <a:latin typeface="Segoe UI" panose="020B0502040204020203" pitchFamily="34" charset="0"/>
                <a:ea typeface="Times New Roman" panose="02020603050405020304" pitchFamily="18" charset="0"/>
                <a:cs typeface="Times New Roman" panose="02020603050405020304" pitchFamily="18" charset="0"/>
              </a:rPr>
              <a:t/>
            </a:r>
            <a:br>
              <a:rPr lang="es-CO" sz="1800" b="1" kern="0" dirty="0">
                <a:solidFill>
                  <a:srgbClr val="FF0000"/>
                </a:solidFill>
                <a:latin typeface="Segoe UI" panose="020B0502040204020203" pitchFamily="34" charset="0"/>
                <a:ea typeface="Times New Roman" panose="02020603050405020304" pitchFamily="18" charset="0"/>
                <a:cs typeface="Times New Roman" panose="02020603050405020304" pitchFamily="18" charset="0"/>
              </a:rPr>
            </a:br>
            <a:r>
              <a:rPr lang="es-CO" sz="2000" b="1" kern="0" dirty="0">
                <a:solidFill>
                  <a:srgbClr val="FF0000"/>
                </a:solidFill>
                <a:latin typeface="Arial" panose="020B0604020202020204" pitchFamily="34" charset="0"/>
                <a:ea typeface="Times New Roman" panose="02020603050405020304" pitchFamily="18" charset="0"/>
                <a:cs typeface="Arial" panose="020B0604020202020204" pitchFamily="34" charset="0"/>
              </a:rPr>
              <a:t>Funciones Principales  del Frontend en Microservicios:</a:t>
            </a:r>
            <a:r>
              <a:rPr lang="es-CO" sz="2000" kern="100" dirty="0">
                <a:solidFill>
                  <a:srgbClr val="FF0000"/>
                </a:solidFill>
                <a:latin typeface="Arial" panose="020B0604020202020204" pitchFamily="34" charset="0"/>
                <a:ea typeface="Calibri" panose="020F0502020204030204" pitchFamily="34" charset="0"/>
                <a:cs typeface="Arial" panose="020B0604020202020204" pitchFamily="34" charset="0"/>
              </a:rPr>
              <a:t/>
            </a:r>
            <a:br>
              <a:rPr lang="es-CO" sz="2000" kern="100" dirty="0">
                <a:solidFill>
                  <a:srgbClr val="FF0000"/>
                </a:solidFill>
                <a:latin typeface="Arial" panose="020B0604020202020204" pitchFamily="34" charset="0"/>
                <a:ea typeface="Calibri" panose="020F0502020204030204" pitchFamily="34" charset="0"/>
                <a:cs typeface="Arial" panose="020B0604020202020204" pitchFamily="34" charset="0"/>
              </a:rPr>
            </a:br>
            <a:endParaRPr lang="es-CO" sz="2000" b="1" dirty="0">
              <a:solidFill>
                <a:srgbClr val="FF0000"/>
              </a:solidFill>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457200" y="731838"/>
            <a:ext cx="8229600" cy="5649912"/>
          </a:xfrm>
        </p:spPr>
        <p:txBody>
          <a:bodyPr>
            <a:normAutofit fontScale="85000" lnSpcReduction="10000"/>
          </a:bodyPr>
          <a:lstStyle/>
          <a:p>
            <a:pPr algn="just">
              <a:lnSpc>
                <a:spcPct val="107000"/>
              </a:lnSpc>
              <a:spcAft>
                <a:spcPts val="800"/>
              </a:spcAft>
              <a:buFont typeface="Wingdings" panose="05000000000000000000" pitchFamily="2" charset="2"/>
              <a:buChar char="ü"/>
              <a:tabLst>
                <a:tab pos="457200" algn="l"/>
              </a:tabLst>
              <a:defRPr/>
            </a:pPr>
            <a:r>
              <a:rPr lang="es-CO" sz="1800" b="1" kern="0" dirty="0">
                <a:latin typeface="Segoe UI" panose="020B0502040204020203" pitchFamily="34" charset="0"/>
                <a:ea typeface="Times New Roman" panose="02020603050405020304" pitchFamily="18" charset="0"/>
                <a:cs typeface="Times New Roman" panose="02020603050405020304" pitchFamily="18" charset="0"/>
              </a:rPr>
              <a:t>Comunicación con Múltiples Microservicios</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A diferencia de una arquitectura monolítica, donde el frontend se conecta con un único backend, en una arquitectura de microservicios, el frontend interactúa con varios microservicios para obtener los datos necesarios. Cada microservicio se encarga de una parte específica del sistema (por ejemplo, autenticación, productos o pagos).</a:t>
            </a:r>
            <a:endParaRPr lang="es-CO" sz="1800" kern="100" dirty="0">
              <a:ea typeface="Calibri" panose="020F0502020204030204" pitchFamily="34" charset="0"/>
              <a:cs typeface="Times New Roman" panose="02020603050405020304" pitchFamily="18" charset="0"/>
            </a:endParaRPr>
          </a:p>
          <a:p>
            <a:pPr algn="just">
              <a:lnSpc>
                <a:spcPct val="107000"/>
              </a:lnSpc>
              <a:spcAft>
                <a:spcPts val="800"/>
              </a:spcAft>
              <a:buFont typeface="Wingdings" panose="05000000000000000000" pitchFamily="2" charset="2"/>
              <a:buChar char="ü"/>
              <a:tabLst>
                <a:tab pos="457200" algn="l"/>
              </a:tabLst>
              <a:defRPr/>
            </a:pPr>
            <a:r>
              <a:rPr lang="es-CO" sz="1800" b="1" kern="0" dirty="0">
                <a:latin typeface="Segoe UI" panose="020B0502040204020203" pitchFamily="34" charset="0"/>
                <a:ea typeface="Times New Roman" panose="02020603050405020304" pitchFamily="18" charset="0"/>
                <a:cs typeface="Times New Roman" panose="02020603050405020304" pitchFamily="18" charset="0"/>
              </a:rPr>
              <a:t>Uso de API Gateway</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Para facilitar la comunicación entre el frontend y los microservicios, a menudo se utiliza un API Gateway. El API Gateway actúa como un intermediario que agrupa y gestiona las solicitudes de los microservicios, proporcionando una única interfaz de entrada para el frontend.</a:t>
            </a:r>
            <a:endParaRPr lang="es-CO" sz="1800" kern="100" dirty="0">
              <a:ea typeface="Calibri" panose="020F0502020204030204" pitchFamily="34" charset="0"/>
              <a:cs typeface="Times New Roman" panose="02020603050405020304" pitchFamily="18" charset="0"/>
            </a:endParaRPr>
          </a:p>
          <a:p>
            <a:pPr algn="just">
              <a:lnSpc>
                <a:spcPct val="107000"/>
              </a:lnSpc>
              <a:spcAft>
                <a:spcPts val="800"/>
              </a:spcAft>
              <a:buFont typeface="Wingdings" panose="05000000000000000000" pitchFamily="2" charset="2"/>
              <a:buChar char="ü"/>
              <a:tabLst>
                <a:tab pos="457200" algn="l"/>
              </a:tabLst>
              <a:defRPr/>
            </a:pPr>
            <a:r>
              <a:rPr lang="es-CO" sz="1800" b="1" kern="0" dirty="0">
                <a:latin typeface="Segoe UI" panose="020B0502040204020203" pitchFamily="34" charset="0"/>
                <a:ea typeface="Times New Roman" panose="02020603050405020304" pitchFamily="18" charset="0"/>
                <a:cs typeface="Times New Roman" panose="02020603050405020304" pitchFamily="18" charset="0"/>
              </a:rPr>
              <a:t>Desarrollo Independiente</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El frontend puede desarrollarse y desplegarse de manera independiente de los microservicios backend. Esto permite una mayor flexibilidad en la elección de tecnologías y herramientas, lo que facilita el uso de </a:t>
            </a:r>
            <a:r>
              <a:rPr lang="es-CO" sz="1800" kern="0" dirty="0" err="1">
                <a:latin typeface="Segoe UI" panose="020B0502040204020203" pitchFamily="34" charset="0"/>
                <a:ea typeface="Times New Roman" panose="02020603050405020304" pitchFamily="18" charset="0"/>
                <a:cs typeface="Times New Roman" panose="02020603050405020304" pitchFamily="18" charset="0"/>
              </a:rPr>
              <a:t>frameworks</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modernos como </a:t>
            </a:r>
            <a:r>
              <a:rPr lang="es-CO" sz="1800" kern="0" dirty="0" err="1">
                <a:latin typeface="Segoe UI" panose="020B0502040204020203" pitchFamily="34" charset="0"/>
                <a:ea typeface="Times New Roman" panose="02020603050405020304" pitchFamily="18" charset="0"/>
                <a:cs typeface="Times New Roman" panose="02020603050405020304" pitchFamily="18" charset="0"/>
              </a:rPr>
              <a:t>React</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Angular o Vue.js para el desarrollo de interfaces dinámicas.</a:t>
            </a:r>
            <a:endParaRPr lang="es-CO" sz="1800" kern="100" dirty="0">
              <a:ea typeface="Calibri" panose="020F0502020204030204" pitchFamily="34" charset="0"/>
              <a:cs typeface="Times New Roman" panose="02020603050405020304" pitchFamily="18" charset="0"/>
            </a:endParaRPr>
          </a:p>
          <a:p>
            <a:pPr algn="just">
              <a:lnSpc>
                <a:spcPct val="107000"/>
              </a:lnSpc>
              <a:spcAft>
                <a:spcPts val="800"/>
              </a:spcAft>
              <a:buFont typeface="Wingdings" panose="05000000000000000000" pitchFamily="2" charset="2"/>
              <a:buChar char="ü"/>
              <a:tabLst>
                <a:tab pos="457200" algn="l"/>
              </a:tabLst>
              <a:defRPr/>
            </a:pPr>
            <a:r>
              <a:rPr lang="es-CO" sz="1800" b="1" kern="0" dirty="0">
                <a:latin typeface="Segoe UI" panose="020B0502040204020203" pitchFamily="34" charset="0"/>
                <a:ea typeface="Times New Roman" panose="02020603050405020304" pitchFamily="18" charset="0"/>
                <a:cs typeface="Times New Roman" panose="02020603050405020304" pitchFamily="18" charset="0"/>
              </a:rPr>
              <a:t>Componentes Frontend Basados en Microservicios (Micro Frontends)</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En algunas arquitecturas, el frontend también se divide en micro frontends, donde cada parte de la interfaz está desarrollada y desplegada por separado. Esto sigue el mismo principio de los microservicios en el backend, lo que permite un desarrollo modular y escalable.</a:t>
            </a:r>
            <a:endParaRPr lang="es-CO" sz="1800" kern="100" dirty="0">
              <a:ea typeface="Calibri" panose="020F0502020204030204" pitchFamily="34" charset="0"/>
              <a:cs typeface="Times New Roman" panose="02020603050405020304" pitchFamily="18" charset="0"/>
            </a:endParaRPr>
          </a:p>
          <a:p>
            <a:pPr algn="just">
              <a:lnSpc>
                <a:spcPct val="107000"/>
              </a:lnSpc>
              <a:spcAft>
                <a:spcPts val="800"/>
              </a:spcAft>
              <a:buFont typeface="Wingdings" panose="05000000000000000000" pitchFamily="2" charset="2"/>
              <a:buChar char="ü"/>
              <a:tabLst>
                <a:tab pos="457200" algn="l"/>
              </a:tabLst>
              <a:defRPr/>
            </a:pPr>
            <a:r>
              <a:rPr lang="es-CO" sz="1800" b="1" kern="0" dirty="0">
                <a:latin typeface="Segoe UI" panose="020B0502040204020203" pitchFamily="34" charset="0"/>
                <a:ea typeface="Times New Roman" panose="02020603050405020304" pitchFamily="18" charset="0"/>
                <a:cs typeface="Times New Roman" panose="02020603050405020304" pitchFamily="18" charset="0"/>
              </a:rPr>
              <a:t>Gestión de Estado y Comunicación</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El frontend puede gestionar el estado de la aplicación y actualizar la interfaz de usuario según las respuestas recibidas de los microservicios. Esto se puede realizar utilizando bibliotecas como </a:t>
            </a:r>
            <a:r>
              <a:rPr lang="es-CO" sz="1800" kern="0" dirty="0" err="1">
                <a:latin typeface="Segoe UI" panose="020B0502040204020203" pitchFamily="34" charset="0"/>
                <a:ea typeface="Times New Roman" panose="02020603050405020304" pitchFamily="18" charset="0"/>
                <a:cs typeface="Times New Roman" panose="02020603050405020304" pitchFamily="18" charset="0"/>
              </a:rPr>
              <a:t>Redux</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para </a:t>
            </a:r>
            <a:r>
              <a:rPr lang="es-CO" sz="1800" kern="0" dirty="0" err="1">
                <a:latin typeface="Segoe UI" panose="020B0502040204020203" pitchFamily="34" charset="0"/>
                <a:ea typeface="Times New Roman" panose="02020603050405020304" pitchFamily="18" charset="0"/>
                <a:cs typeface="Times New Roman" panose="02020603050405020304" pitchFamily="18" charset="0"/>
              </a:rPr>
              <a:t>React</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o </a:t>
            </a:r>
            <a:r>
              <a:rPr lang="es-CO" sz="1800" kern="0" dirty="0" err="1">
                <a:latin typeface="Segoe UI" panose="020B0502040204020203" pitchFamily="34" charset="0"/>
                <a:ea typeface="Times New Roman" panose="02020603050405020304" pitchFamily="18" charset="0"/>
                <a:cs typeface="Times New Roman" panose="02020603050405020304" pitchFamily="18" charset="0"/>
              </a:rPr>
              <a:t>Vuex</a:t>
            </a:r>
            <a:r>
              <a:rPr lang="es-CO" sz="1800" kern="0" dirty="0">
                <a:latin typeface="Segoe UI" panose="020B0502040204020203" pitchFamily="34" charset="0"/>
                <a:ea typeface="Times New Roman" panose="02020603050405020304" pitchFamily="18" charset="0"/>
                <a:cs typeface="Times New Roman" panose="02020603050405020304" pitchFamily="18" charset="0"/>
              </a:rPr>
              <a:t> para Vue.js, que manejan el estado global de la aplicación.</a:t>
            </a:r>
            <a:endParaRPr lang="es-CO" sz="1800" kern="100" dirty="0">
              <a:ea typeface="Calibri" panose="020F0502020204030204" pitchFamily="34" charset="0"/>
              <a:cs typeface="Times New Roman" panose="02020603050405020304" pitchFamily="18" charset="0"/>
            </a:endParaRPr>
          </a:p>
          <a:p>
            <a:pPr>
              <a:defRPr/>
            </a:pPr>
            <a:endParaRPr lang="es-CO" sz="2400" dirty="0"/>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5534</TotalTime>
  <Words>2289</Words>
  <Application>Microsoft Office PowerPoint</Application>
  <PresentationFormat>On-screen Show (4:3)</PresentationFormat>
  <Paragraphs>319</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Segoe UI</vt:lpstr>
      <vt:lpstr>Wingdings</vt:lpstr>
      <vt:lpstr>Segoui</vt:lpstr>
      <vt:lpstr>Times New Roman</vt:lpstr>
      <vt:lpstr>Tema de Office</vt:lpstr>
      <vt:lpstr>Arquitectura Fundamental  Bases de Datos Avanzadas</vt:lpstr>
      <vt:lpstr>Arquitectura Fundamental  Bases de Datos Avanzadas - Diseño</vt:lpstr>
      <vt:lpstr>SECUENCIA FUNDAMENTAL DE LAS BASES DE DATOS</vt:lpstr>
      <vt:lpstr>SECUENCIA FUNDAMENTAL DE LAS BASES DE DATOS</vt:lpstr>
      <vt:lpstr>SECUENCIA FUNDAMENTAL DE LAS BASES DE DATOS</vt:lpstr>
      <vt:lpstr>EXPLICACION DE LA SECUENCIA DE LAS BASES DE DATOS</vt:lpstr>
      <vt:lpstr>EXPLICACION DE LA SECUENCIA DE LAS BASES DE DATOS</vt:lpstr>
      <vt:lpstr>Metodología de Desarrollo de Aplicaciones - SCRUM  - Tipo Incremental</vt:lpstr>
      <vt:lpstr>Metodología de Desarrollo de Aplicaciones - SCRUM  - Tipo Incremental</vt:lpstr>
      <vt:lpstr>Fases de la Metodología de Desarrollo de Aplicaciones Scrum</vt:lpstr>
      <vt:lpstr>Fases de la Metodología de Desarrollo de Aplicaciones Scrum</vt:lpstr>
      <vt:lpstr>Aspectos Principales de la Metodología SCRUM</vt:lpstr>
      <vt:lpstr>Aspectos Principales de la Metodología SCRUM</vt:lpstr>
      <vt:lpstr> Funciones Principales  del Framework en Microservicios: </vt:lpstr>
      <vt:lpstr> Funciones Principales  del Backend en Microservicios: </vt:lpstr>
      <vt:lpstr> Funciones Principales  del Frontend en Microservicios: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CASOS DE USO</dc:title>
  <dc:creator>JIAE</dc:creator>
  <cp:lastModifiedBy>word</cp:lastModifiedBy>
  <cp:revision>488</cp:revision>
  <dcterms:created xsi:type="dcterms:W3CDTF">2012-05-06T18:36:00Z</dcterms:created>
  <dcterms:modified xsi:type="dcterms:W3CDTF">2026-09-23T20:47:57Z</dcterms:modified>
</cp:coreProperties>
</file>